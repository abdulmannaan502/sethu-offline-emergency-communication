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82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4874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flood scenario. Sethu = Offline Emergency Communication &amp; Disaster Response. Illustration only: the artwork is drawn, not a photograph.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believable scenario: a flood, three people on a terrace, one needs urgent medical help, one needs evacuation. A volunteer has a phone but the message cannot reach the response coordinator. Illustrative, not a claim about a real event.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Sethu moves an emergency report phone to phone using local Bluetooth. The Relay stores it, so a lost connection does not lose the report. Mockup phones are illustrative, not screenshots.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Roles are fixed by the user: iQOO 15 = Sender, Vivo Y15 = Relay, Motorola Edge 30 Pro = Coordinator. The implementation keeps ONE active Bluetooth link per phone at a time, so Stage B only starts after Stage A is ended. Connections are made by the user (Start Server, then tap the peer). Forwarding is automatic.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steps. Steps 1-3 happen on the first manual link. Step 4 ends it (for example iQOO Bluetooth off). Step 5 is the user's second manual connection. Step 6 is automatic. Step 7: the Coordinator saves first, then acknowledges, and only then does the Relay mark delivered.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mechanisms exist in the code and are exercised by unit and simulated tests. DELIVERED is only recorded after the Coordinator's acknowledgement for the same report ID on the same connection.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Checked against the merged debug and release manifests: no INTERNET permission. The local LLM weights and the offline map file are loaded on the device (not bundled in the APK). Bluetooth pairing is not app-level authentication, and there is no app-level encryption yet.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priority engine is deterministic: explicit keyword rules with a stated reason, not a trained model. The local LLM only proposes structured fields that the person reviews; unknown stays unknown. No diagnosis, dispatch or tracking is claimed.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box is a real class or library in the repository. Kotlin + Jetpack Compose. The transport is Bluetooth Classic RFCOMM through a thin adapter that the simulated tests replace with fake sockets.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explicit with the jury: unit tests and simulated end-to-end tests are verified. Physical Bluetooth validation is in progress. The screenshot on the right is a REAL screenshot of the iQOO 15 from the first physical connection attempt, which failed and is being debugged. Delete that box if you prefer not to show it, but do not claim physical success.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of these are future improvements, not current capabilities.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tagline.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jp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jp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itle_bg.jpg"/>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640080" y="502920"/>
            <a:ext cx="3063240" cy="347472"/>
          </a:xfrm>
          <a:prstGeom prst="roundRect">
            <a:avLst>
              <a:gd name="adj" fmla="val 50000"/>
            </a:avLst>
          </a:prstGeom>
          <a:solidFill>
            <a:srgbClr val="0E2864">
              <a:alpha val="95000"/>
            </a:srgbClr>
          </a:solidFill>
          <a:ln w="12700">
            <a:solidFill>
              <a:srgbClr val="35E0FF"/>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35E0FF"/>
                </a:solidFill>
                <a:latin typeface="Segoe UI"/>
              </a:rPr>
              <a:t>HACKATHON PRESENTATION</a:t>
            </a:r>
          </a:p>
        </p:txBody>
      </p:sp>
      <p:sp>
        <p:nvSpPr>
          <p:cNvPr id="4" name="Title"/>
          <p:cNvSpPr txBox="1"/>
          <p:nvPr/>
        </p:nvSpPr>
        <p:spPr>
          <a:xfrm>
            <a:off x="566928" y="1143000"/>
            <a:ext cx="7315200" cy="1463040"/>
          </a:xfrm>
          <a:prstGeom prst="rect">
            <a:avLst/>
          </a:prstGeom>
          <a:noFill/>
        </p:spPr>
        <p:txBody>
          <a:bodyPr wrap="square" lIns="36576" tIns="18288" rIns="36576" bIns="18288" anchor="t">
            <a:spAutoFit/>
          </a:bodyPr>
          <a:lstStyle/>
          <a:p>
            <a:pPr algn="l"/>
            <a:r>
              <a:rPr sz="10400" b="1" i="0">
                <a:solidFill>
                  <a:srgbClr val="EAF2FF"/>
                </a:solidFill>
                <a:latin typeface="Segoe UI"/>
              </a:rPr>
              <a:t>SETHU</a:t>
            </a:r>
          </a:p>
        </p:txBody>
      </p:sp>
      <p:sp>
        <p:nvSpPr>
          <p:cNvPr id="5" name="Rectangle 4"/>
          <p:cNvSpPr/>
          <p:nvPr/>
        </p:nvSpPr>
        <p:spPr>
          <a:xfrm>
            <a:off x="658368" y="2697480"/>
            <a:ext cx="2377440" cy="64008"/>
          </a:xfrm>
          <a:prstGeom prst="rect">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926080"/>
            <a:ext cx="6766560" cy="1097280"/>
          </a:xfrm>
          <a:prstGeom prst="rect">
            <a:avLst/>
          </a:prstGeom>
          <a:noFill/>
        </p:spPr>
        <p:txBody>
          <a:bodyPr wrap="square" lIns="36576" tIns="18288" rIns="36576" bIns="18288" anchor="t">
            <a:spAutoFit/>
          </a:bodyPr>
          <a:lstStyle/>
          <a:p>
            <a:pPr algn="l"/>
            <a:r>
              <a:rPr sz="3000" b="1" i="0">
                <a:solidFill>
                  <a:srgbClr val="EAF2FF"/>
                </a:solidFill>
                <a:latin typeface="Segoe UI"/>
              </a:rPr>
              <a:t>Offline Emergency Communication</a:t>
            </a:r>
          </a:p>
          <a:p>
            <a:pPr algn="l"/>
            <a:r>
              <a:rPr sz="3000" b="1" i="0">
                <a:solidFill>
                  <a:srgbClr val="EAF2FF"/>
                </a:solidFill>
                <a:latin typeface="Segoe UI"/>
              </a:rPr>
              <a:t>&amp; Disaster Response</a:t>
            </a:r>
          </a:p>
        </p:txBody>
      </p:sp>
      <p:sp>
        <p:nvSpPr>
          <p:cNvPr id="7" name="TextBox 6"/>
          <p:cNvSpPr txBox="1"/>
          <p:nvPr/>
        </p:nvSpPr>
        <p:spPr>
          <a:xfrm>
            <a:off x="640080" y="4160520"/>
            <a:ext cx="6035040" cy="914400"/>
          </a:xfrm>
          <a:prstGeom prst="rect">
            <a:avLst/>
          </a:prstGeom>
          <a:noFill/>
        </p:spPr>
        <p:txBody>
          <a:bodyPr wrap="square" lIns="36576" tIns="18288" rIns="36576" bIns="18288" anchor="t">
            <a:spAutoFit/>
          </a:bodyPr>
          <a:lstStyle/>
          <a:p>
            <a:pPr algn="l"/>
            <a:r>
              <a:rPr sz="1900" b="0" i="1">
                <a:solidFill>
                  <a:srgbClr val="C8D7F0"/>
                </a:solidFill>
                <a:latin typeface="Segoe UI"/>
              </a:rPr>
              <a:t>Connecting emergency reports when conventional connectivity is unavailable.</a:t>
            </a:r>
          </a:p>
        </p:txBody>
      </p:sp>
      <p:pic>
        <p:nvPicPr>
          <p:cNvPr id="8" name="Picture 7" descr="motif.png"/>
          <p:cNvPicPr>
            <a:picLocks noChangeAspect="1"/>
          </p:cNvPicPr>
          <p:nvPr/>
        </p:nvPicPr>
        <p:blipFill>
          <a:blip r:embed="rId4"/>
          <a:stretch>
            <a:fillRect/>
          </a:stretch>
        </p:blipFill>
        <p:spPr>
          <a:xfrm>
            <a:off x="502920" y="4800600"/>
            <a:ext cx="4937760" cy="1810512"/>
          </a:xfrm>
          <a:prstGeom prst="rect">
            <a:avLst/>
          </a:prstGeom>
        </p:spPr>
      </p:pic>
      <p:sp>
        <p:nvSpPr>
          <p:cNvPr id="9" name="Rounded Rectangle 8"/>
          <p:cNvSpPr/>
          <p:nvPr/>
        </p:nvSpPr>
        <p:spPr>
          <a:xfrm>
            <a:off x="9281160" y="502920"/>
            <a:ext cx="2331720" cy="868680"/>
          </a:xfrm>
          <a:prstGeom prst="roundRect">
            <a:avLst>
              <a:gd name="adj" fmla="val 20000"/>
            </a:avLst>
          </a:prstGeom>
          <a:solidFill>
            <a:srgbClr val="3C0C14">
              <a:alpha val="85000"/>
            </a:srgbClr>
          </a:solidFill>
          <a:ln w="15875">
            <a:solidFill>
              <a:srgbClr val="FF3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81160" y="566928"/>
            <a:ext cx="2331720" cy="365760"/>
          </a:xfrm>
          <a:prstGeom prst="rect">
            <a:avLst/>
          </a:prstGeom>
          <a:noFill/>
        </p:spPr>
        <p:txBody>
          <a:bodyPr wrap="square" lIns="36576" tIns="18288" rIns="36576" bIns="18288" anchor="t">
            <a:spAutoFit/>
          </a:bodyPr>
          <a:lstStyle/>
          <a:p>
            <a:pPr algn="ctr"/>
            <a:r>
              <a:rPr sz="1700" b="1" i="0">
                <a:solidFill>
                  <a:srgbClr val="FF7882"/>
                </a:solidFill>
                <a:latin typeface="Segoe UI"/>
              </a:rPr>
              <a:t>NO NETWORK</a:t>
            </a:r>
          </a:p>
        </p:txBody>
      </p:sp>
      <p:sp>
        <p:nvSpPr>
          <p:cNvPr id="11" name="TextBox 10"/>
          <p:cNvSpPr txBox="1"/>
          <p:nvPr/>
        </p:nvSpPr>
        <p:spPr>
          <a:xfrm>
            <a:off x="9281160" y="914400"/>
            <a:ext cx="2331720" cy="365760"/>
          </a:xfrm>
          <a:prstGeom prst="rect">
            <a:avLst/>
          </a:prstGeom>
          <a:noFill/>
        </p:spPr>
        <p:txBody>
          <a:bodyPr wrap="square" lIns="36576" tIns="18288" rIns="36576" bIns="18288" anchor="t">
            <a:spAutoFit/>
          </a:bodyPr>
          <a:lstStyle/>
          <a:p>
            <a:pPr algn="ctr"/>
            <a:r>
              <a:rPr sz="1100" b="0" i="0">
                <a:solidFill>
                  <a:srgbClr val="E6AAAF"/>
                </a:solidFill>
                <a:latin typeface="Segoe UI"/>
              </a:rPr>
              <a:t>conventional connectivity down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lood_mid.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THE PROBLEM</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When networks fail, reports stall</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2</a:t>
            </a:r>
          </a:p>
        </p:txBody>
      </p:sp>
      <p:sp>
        <p:nvSpPr>
          <p:cNvPr id="7" name="TextBox 6"/>
          <p:cNvSpPr txBox="1"/>
          <p:nvPr/>
        </p:nvSpPr>
        <p:spPr>
          <a:xfrm>
            <a:off x="548640" y="1280160"/>
            <a:ext cx="5669280" cy="914400"/>
          </a:xfrm>
          <a:prstGeom prst="rect">
            <a:avLst/>
          </a:prstGeom>
          <a:noFill/>
        </p:spPr>
        <p:txBody>
          <a:bodyPr wrap="square" lIns="36576" tIns="18288" rIns="36576" bIns="18288" anchor="t">
            <a:spAutoFit/>
          </a:bodyPr>
          <a:lstStyle/>
          <a:p>
            <a:pPr algn="l">
              <a:spcAft>
                <a:spcPts val="200"/>
              </a:spcAft>
            </a:pPr>
            <a:r>
              <a:rPr sz="1700" b="0" i="0">
                <a:solidFill>
                  <a:srgbClr val="E1E9FA"/>
                </a:solidFill>
                <a:latin typeface="Segoe UI"/>
              </a:rPr>
              <a:t>Three people on a terrace. Water on the lower floors.</a:t>
            </a:r>
          </a:p>
          <a:p>
            <a:pPr algn="l">
              <a:spcAft>
                <a:spcPts val="200"/>
              </a:spcAft>
            </a:pPr>
            <a:r>
              <a:rPr sz="1700" b="0" i="0">
                <a:solidFill>
                  <a:srgbClr val="E1E9FA"/>
                </a:solidFill>
                <a:latin typeface="Segoe UI"/>
              </a:rPr>
              <a:t>One needs a medic. One needs evacuation.</a:t>
            </a:r>
          </a:p>
        </p:txBody>
      </p:sp>
      <p:sp>
        <p:nvSpPr>
          <p:cNvPr id="8" name="Rounded Rectangle 7"/>
          <p:cNvSpPr/>
          <p:nvPr/>
        </p:nvSpPr>
        <p:spPr>
          <a:xfrm>
            <a:off x="548640" y="2286000"/>
            <a:ext cx="5394960" cy="841248"/>
          </a:xfrm>
          <a:prstGeom prst="roundRect">
            <a:avLst>
              <a:gd name="adj" fmla="val 18000"/>
            </a:avLst>
          </a:prstGeom>
          <a:solidFill>
            <a:srgbClr val="060C1E">
              <a:alpha val="88000"/>
            </a:srgbClr>
          </a:solidFill>
          <a:ln w="15875">
            <a:solidFill>
              <a:srgbClr val="FF3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49808" y="2551176"/>
            <a:ext cx="310896" cy="310896"/>
          </a:xfrm>
          <a:prstGeom prst="ellipse">
            <a:avLst/>
          </a:prstGeom>
          <a:solidFill>
            <a:srgbClr val="FF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2359152"/>
            <a:ext cx="4663440" cy="713232"/>
          </a:xfrm>
          <a:prstGeom prst="rect">
            <a:avLst/>
          </a:prstGeom>
          <a:noFill/>
        </p:spPr>
        <p:txBody>
          <a:bodyPr wrap="square" lIns="36576" tIns="18288" rIns="36576" bIns="18288" anchor="ctr">
            <a:spAutoFit/>
          </a:bodyPr>
          <a:lstStyle/>
          <a:p>
            <a:pPr algn="l"/>
            <a:r>
              <a:rPr sz="1550" b="1" i="0">
                <a:solidFill>
                  <a:srgbClr val="EAF2FF"/>
                </a:solidFill>
                <a:latin typeface="Segoe UI"/>
              </a:rPr>
              <a:t>Reports may not reach a coordinator</a:t>
            </a:r>
          </a:p>
        </p:txBody>
      </p:sp>
      <p:sp>
        <p:nvSpPr>
          <p:cNvPr id="11" name="Rounded Rectangle 10"/>
          <p:cNvSpPr/>
          <p:nvPr/>
        </p:nvSpPr>
        <p:spPr>
          <a:xfrm>
            <a:off x="548640" y="3273552"/>
            <a:ext cx="5394960" cy="841248"/>
          </a:xfrm>
          <a:prstGeom prst="roundRect">
            <a:avLst>
              <a:gd name="adj" fmla="val 18000"/>
            </a:avLst>
          </a:prstGeom>
          <a:solidFill>
            <a:srgbClr val="060C1E">
              <a:alpha val="88000"/>
            </a:srgbClr>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49808" y="3538728"/>
            <a:ext cx="310896" cy="310896"/>
          </a:xfrm>
          <a:prstGeom prst="ellipse">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346704"/>
            <a:ext cx="4663440" cy="713232"/>
          </a:xfrm>
          <a:prstGeom prst="rect">
            <a:avLst/>
          </a:prstGeom>
          <a:noFill/>
        </p:spPr>
        <p:txBody>
          <a:bodyPr wrap="square" lIns="36576" tIns="18288" rIns="36576" bIns="18288" anchor="ctr">
            <a:spAutoFit/>
          </a:bodyPr>
          <a:lstStyle/>
          <a:p>
            <a:pPr algn="l"/>
            <a:r>
              <a:rPr sz="1550" b="1" i="0">
                <a:solidFill>
                  <a:srgbClr val="EAF2FF"/>
                </a:solidFill>
                <a:latin typeface="Segoe UI"/>
              </a:rPr>
              <a:t>Connectivity may be intermittent or unavailable</a:t>
            </a:r>
          </a:p>
        </p:txBody>
      </p:sp>
      <p:sp>
        <p:nvSpPr>
          <p:cNvPr id="14" name="Rounded Rectangle 13"/>
          <p:cNvSpPr/>
          <p:nvPr/>
        </p:nvSpPr>
        <p:spPr>
          <a:xfrm>
            <a:off x="548640" y="4261104"/>
            <a:ext cx="5394960" cy="841248"/>
          </a:xfrm>
          <a:prstGeom prst="roundRect">
            <a:avLst>
              <a:gd name="adj" fmla="val 18000"/>
            </a:avLst>
          </a:prstGeom>
          <a:solidFill>
            <a:srgbClr val="060C1E">
              <a:alpha val="88000"/>
            </a:srgbClr>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9808" y="4526280"/>
            <a:ext cx="310896" cy="310896"/>
          </a:xfrm>
          <a:prstGeom prst="ellipse">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4334256"/>
            <a:ext cx="4663440" cy="713232"/>
          </a:xfrm>
          <a:prstGeom prst="rect">
            <a:avLst/>
          </a:prstGeom>
          <a:noFill/>
        </p:spPr>
        <p:txBody>
          <a:bodyPr wrap="square" lIns="36576" tIns="18288" rIns="36576" bIns="18288" anchor="ctr">
            <a:spAutoFit/>
          </a:bodyPr>
          <a:lstStyle/>
          <a:p>
            <a:pPr algn="l"/>
            <a:r>
              <a:rPr sz="1550" b="1" i="0">
                <a:solidFill>
                  <a:srgbClr val="EAF2FF"/>
                </a:solidFill>
                <a:latin typeface="Segoe UI"/>
              </a:rPr>
              <a:t>Delayed reports make coordination harder</a:t>
            </a:r>
          </a:p>
        </p:txBody>
      </p:sp>
      <p:sp>
        <p:nvSpPr>
          <p:cNvPr id="17" name="Rounded Rectangle 16"/>
          <p:cNvSpPr/>
          <p:nvPr/>
        </p:nvSpPr>
        <p:spPr>
          <a:xfrm>
            <a:off x="548640" y="5248656"/>
            <a:ext cx="5394960" cy="841248"/>
          </a:xfrm>
          <a:prstGeom prst="roundRect">
            <a:avLst>
              <a:gd name="adj" fmla="val 18000"/>
            </a:avLst>
          </a:prstGeom>
          <a:solidFill>
            <a:srgbClr val="060C1E">
              <a:alpha val="88000"/>
            </a:srgbClr>
          </a:solidFill>
          <a:ln w="15875">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49808" y="5513832"/>
            <a:ext cx="310896" cy="310896"/>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5321808"/>
            <a:ext cx="4663440" cy="713232"/>
          </a:xfrm>
          <a:prstGeom prst="rect">
            <a:avLst/>
          </a:prstGeom>
          <a:noFill/>
        </p:spPr>
        <p:txBody>
          <a:bodyPr wrap="square" lIns="36576" tIns="18288" rIns="36576" bIns="18288" anchor="ctr">
            <a:spAutoFit/>
          </a:bodyPr>
          <a:lstStyle/>
          <a:p>
            <a:pPr algn="l"/>
            <a:r>
              <a:rPr sz="1550" b="1" i="0">
                <a:solidFill>
                  <a:srgbClr val="EAF2FF"/>
                </a:solidFill>
                <a:latin typeface="Segoe UI"/>
              </a:rPr>
              <a:t>Nearby phones can still talk to each other locally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a.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THE SOLUTION</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Store on the relay. Forward when a link appears.</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3</a:t>
            </a:r>
          </a:p>
        </p:txBody>
      </p:sp>
      <p:sp>
        <p:nvSpPr>
          <p:cNvPr id="7" name="Rounded Rectangle 6"/>
          <p:cNvSpPr/>
          <p:nvPr/>
        </p:nvSpPr>
        <p:spPr>
          <a:xfrm>
            <a:off x="822960" y="1600200"/>
            <a:ext cx="2331720" cy="3931920"/>
          </a:xfrm>
          <a:prstGeom prst="roundRect">
            <a:avLst>
              <a:gd name="adj" fmla="val 12000"/>
            </a:avLst>
          </a:prstGeom>
          <a:solidFill>
            <a:srgbClr val="0D1A38">
              <a:alpha val="70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erson.png"/>
          <p:cNvPicPr>
            <a:picLocks noChangeAspect="1"/>
          </p:cNvPicPr>
          <p:nvPr/>
        </p:nvPicPr>
        <p:blipFill>
          <a:blip r:embed="rId4"/>
          <a:stretch>
            <a:fillRect/>
          </a:stretch>
        </p:blipFill>
        <p:spPr>
          <a:xfrm>
            <a:off x="1188720" y="2377440"/>
            <a:ext cx="1600200" cy="1600200"/>
          </a:xfrm>
          <a:prstGeom prst="rect">
            <a:avLst/>
          </a:prstGeom>
        </p:spPr>
      </p:pic>
      <p:sp>
        <p:nvSpPr>
          <p:cNvPr id="9" name="TextBox 8"/>
          <p:cNvSpPr txBox="1"/>
          <p:nvPr/>
        </p:nvSpPr>
        <p:spPr>
          <a:xfrm>
            <a:off x="822960" y="4919472"/>
            <a:ext cx="2331720" cy="457200"/>
          </a:xfrm>
          <a:prstGeom prst="rect">
            <a:avLst/>
          </a:prstGeom>
          <a:noFill/>
        </p:spPr>
        <p:txBody>
          <a:bodyPr wrap="square" lIns="36576" tIns="18288" rIns="36576" bIns="18288" anchor="t">
            <a:spAutoFit/>
          </a:bodyPr>
          <a:lstStyle/>
          <a:p>
            <a:pPr algn="ctr"/>
            <a:r>
              <a:rPr sz="1700" b="1" i="0">
                <a:solidFill>
                  <a:srgbClr val="EAF2FF"/>
                </a:solidFill>
                <a:latin typeface="Segoe UI"/>
              </a:rPr>
              <a:t>Person in danger</a:t>
            </a:r>
          </a:p>
        </p:txBody>
      </p:sp>
      <p:sp>
        <p:nvSpPr>
          <p:cNvPr id="10" name="Rounded Rectangle 9"/>
          <p:cNvSpPr/>
          <p:nvPr/>
        </p:nvSpPr>
        <p:spPr>
          <a:xfrm>
            <a:off x="3611880" y="1600200"/>
            <a:ext cx="2331720" cy="3931920"/>
          </a:xfrm>
          <a:prstGeom prst="roundRect">
            <a:avLst>
              <a:gd name="adj" fmla="val 12000"/>
            </a:avLst>
          </a:prstGeom>
          <a:solidFill>
            <a:srgbClr val="0D1A38">
              <a:alpha val="70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hone_sender_sent.png"/>
          <p:cNvPicPr>
            <a:picLocks noChangeAspect="1"/>
          </p:cNvPicPr>
          <p:nvPr/>
        </p:nvPicPr>
        <p:blipFill>
          <a:blip r:embed="rId5"/>
          <a:stretch>
            <a:fillRect/>
          </a:stretch>
        </p:blipFill>
        <p:spPr>
          <a:xfrm>
            <a:off x="4178808" y="1783080"/>
            <a:ext cx="1467983" cy="3017520"/>
          </a:xfrm>
          <a:prstGeom prst="rect">
            <a:avLst/>
          </a:prstGeom>
        </p:spPr>
      </p:pic>
      <p:sp>
        <p:nvSpPr>
          <p:cNvPr id="12" name="TextBox 11"/>
          <p:cNvSpPr txBox="1"/>
          <p:nvPr/>
        </p:nvSpPr>
        <p:spPr>
          <a:xfrm>
            <a:off x="3611880" y="4919472"/>
            <a:ext cx="2331720" cy="457200"/>
          </a:xfrm>
          <a:prstGeom prst="rect">
            <a:avLst/>
          </a:prstGeom>
          <a:noFill/>
        </p:spPr>
        <p:txBody>
          <a:bodyPr wrap="square" lIns="36576" tIns="18288" rIns="36576" bIns="18288" anchor="t">
            <a:spAutoFit/>
          </a:bodyPr>
          <a:lstStyle/>
          <a:p>
            <a:pPr algn="ctr"/>
            <a:r>
              <a:rPr sz="1700" b="1" i="0">
                <a:solidFill>
                  <a:srgbClr val="EAF2FF"/>
                </a:solidFill>
                <a:latin typeface="Segoe UI"/>
              </a:rPr>
              <a:t>Sender phone</a:t>
            </a:r>
          </a:p>
        </p:txBody>
      </p:sp>
      <p:sp>
        <p:nvSpPr>
          <p:cNvPr id="13" name="Rounded Rectangle 12"/>
          <p:cNvSpPr/>
          <p:nvPr/>
        </p:nvSpPr>
        <p:spPr>
          <a:xfrm>
            <a:off x="6400800" y="1600200"/>
            <a:ext cx="2331720" cy="3931920"/>
          </a:xfrm>
          <a:prstGeom prst="roundRect">
            <a:avLst>
              <a:gd name="adj" fmla="val 12000"/>
            </a:avLst>
          </a:prstGeom>
          <a:solidFill>
            <a:srgbClr val="0D1A38">
              <a:alpha val="70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phone_relay_held.png"/>
          <p:cNvPicPr>
            <a:picLocks noChangeAspect="1"/>
          </p:cNvPicPr>
          <p:nvPr/>
        </p:nvPicPr>
        <p:blipFill>
          <a:blip r:embed="rId6"/>
          <a:stretch>
            <a:fillRect/>
          </a:stretch>
        </p:blipFill>
        <p:spPr>
          <a:xfrm>
            <a:off x="6967728" y="1783080"/>
            <a:ext cx="1467983" cy="3017520"/>
          </a:xfrm>
          <a:prstGeom prst="rect">
            <a:avLst/>
          </a:prstGeom>
        </p:spPr>
      </p:pic>
      <p:sp>
        <p:nvSpPr>
          <p:cNvPr id="15" name="TextBox 14"/>
          <p:cNvSpPr txBox="1"/>
          <p:nvPr/>
        </p:nvSpPr>
        <p:spPr>
          <a:xfrm>
            <a:off x="6400800" y="4919472"/>
            <a:ext cx="2331720" cy="457200"/>
          </a:xfrm>
          <a:prstGeom prst="rect">
            <a:avLst/>
          </a:prstGeom>
          <a:noFill/>
        </p:spPr>
        <p:txBody>
          <a:bodyPr wrap="square" lIns="36576" tIns="18288" rIns="36576" bIns="18288" anchor="t">
            <a:spAutoFit/>
          </a:bodyPr>
          <a:lstStyle/>
          <a:p>
            <a:pPr algn="ctr"/>
            <a:r>
              <a:rPr sz="1700" b="1" i="0">
                <a:solidFill>
                  <a:srgbClr val="EAF2FF"/>
                </a:solidFill>
                <a:latin typeface="Segoe UI"/>
              </a:rPr>
              <a:t>Relay phone</a:t>
            </a:r>
          </a:p>
        </p:txBody>
      </p:sp>
      <p:sp>
        <p:nvSpPr>
          <p:cNvPr id="16" name="Rounded Rectangle 15"/>
          <p:cNvSpPr/>
          <p:nvPr/>
        </p:nvSpPr>
        <p:spPr>
          <a:xfrm>
            <a:off x="9189720" y="1600200"/>
            <a:ext cx="2331720" cy="3931920"/>
          </a:xfrm>
          <a:prstGeom prst="roundRect">
            <a:avLst>
              <a:gd name="adj" fmla="val 12000"/>
            </a:avLst>
          </a:prstGeom>
          <a:solidFill>
            <a:srgbClr val="0D1A38">
              <a:alpha val="70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phone_coordinator_received.png"/>
          <p:cNvPicPr>
            <a:picLocks noChangeAspect="1"/>
          </p:cNvPicPr>
          <p:nvPr/>
        </p:nvPicPr>
        <p:blipFill>
          <a:blip r:embed="rId7"/>
          <a:stretch>
            <a:fillRect/>
          </a:stretch>
        </p:blipFill>
        <p:spPr>
          <a:xfrm>
            <a:off x="9756648" y="1783080"/>
            <a:ext cx="1467983" cy="3017520"/>
          </a:xfrm>
          <a:prstGeom prst="rect">
            <a:avLst/>
          </a:prstGeom>
        </p:spPr>
      </p:pic>
      <p:sp>
        <p:nvSpPr>
          <p:cNvPr id="18" name="TextBox 17"/>
          <p:cNvSpPr txBox="1"/>
          <p:nvPr/>
        </p:nvSpPr>
        <p:spPr>
          <a:xfrm>
            <a:off x="9189720" y="4919472"/>
            <a:ext cx="2331720" cy="457200"/>
          </a:xfrm>
          <a:prstGeom prst="rect">
            <a:avLst/>
          </a:prstGeom>
          <a:noFill/>
        </p:spPr>
        <p:txBody>
          <a:bodyPr wrap="square" lIns="36576" tIns="18288" rIns="36576" bIns="18288" anchor="t">
            <a:spAutoFit/>
          </a:bodyPr>
          <a:lstStyle/>
          <a:p>
            <a:pPr algn="ctr"/>
            <a:r>
              <a:rPr sz="1700" b="1" i="0">
                <a:solidFill>
                  <a:srgbClr val="EAF2FF"/>
                </a:solidFill>
                <a:latin typeface="Segoe UI"/>
              </a:rPr>
              <a:t>Coordinator phone</a:t>
            </a:r>
          </a:p>
        </p:txBody>
      </p:sp>
      <p:sp>
        <p:nvSpPr>
          <p:cNvPr id="19" name="TextBox 18"/>
          <p:cNvSpPr txBox="1"/>
          <p:nvPr/>
        </p:nvSpPr>
        <p:spPr>
          <a:xfrm>
            <a:off x="3611880" y="5212080"/>
            <a:ext cx="2331720" cy="320040"/>
          </a:xfrm>
          <a:prstGeom prst="rect">
            <a:avLst/>
          </a:prstGeom>
          <a:noFill/>
        </p:spPr>
        <p:txBody>
          <a:bodyPr wrap="square" lIns="36576" tIns="18288" rIns="36576" bIns="18288" anchor="t">
            <a:spAutoFit/>
          </a:bodyPr>
          <a:lstStyle/>
          <a:p>
            <a:pPr algn="ctr"/>
            <a:r>
              <a:rPr sz="1200" b="0" i="0">
                <a:solidFill>
                  <a:srgbClr val="96A8C4"/>
                </a:solidFill>
                <a:latin typeface="Segoe UI"/>
              </a:rPr>
              <a:t>creates the SOS</a:t>
            </a:r>
          </a:p>
        </p:txBody>
      </p:sp>
      <p:sp>
        <p:nvSpPr>
          <p:cNvPr id="20" name="TextBox 19"/>
          <p:cNvSpPr txBox="1"/>
          <p:nvPr/>
        </p:nvSpPr>
        <p:spPr>
          <a:xfrm>
            <a:off x="6400800" y="5212080"/>
            <a:ext cx="2331720" cy="320040"/>
          </a:xfrm>
          <a:prstGeom prst="rect">
            <a:avLst/>
          </a:prstGeom>
          <a:noFill/>
        </p:spPr>
        <p:txBody>
          <a:bodyPr wrap="square" lIns="36576" tIns="18288" rIns="36576" bIns="18288" anchor="t">
            <a:spAutoFit/>
          </a:bodyPr>
          <a:lstStyle/>
          <a:p>
            <a:pPr algn="ctr"/>
            <a:r>
              <a:rPr sz="1200" b="0" i="0">
                <a:solidFill>
                  <a:srgbClr val="96A8C4"/>
                </a:solidFill>
                <a:latin typeface="Segoe UI"/>
              </a:rPr>
              <a:t>stores it, then ACKs</a:t>
            </a:r>
          </a:p>
        </p:txBody>
      </p:sp>
      <p:sp>
        <p:nvSpPr>
          <p:cNvPr id="21" name="TextBox 20"/>
          <p:cNvSpPr txBox="1"/>
          <p:nvPr/>
        </p:nvSpPr>
        <p:spPr>
          <a:xfrm>
            <a:off x="9189720" y="5212080"/>
            <a:ext cx="2331720" cy="320040"/>
          </a:xfrm>
          <a:prstGeom prst="rect">
            <a:avLst/>
          </a:prstGeom>
          <a:noFill/>
        </p:spPr>
        <p:txBody>
          <a:bodyPr wrap="square" lIns="36576" tIns="18288" rIns="36576" bIns="18288" anchor="t">
            <a:spAutoFit/>
          </a:bodyPr>
          <a:lstStyle/>
          <a:p>
            <a:pPr algn="ctr"/>
            <a:r>
              <a:rPr sz="1200" b="0" i="0">
                <a:solidFill>
                  <a:srgbClr val="96A8C4"/>
                </a:solidFill>
                <a:latin typeface="Segoe UI"/>
              </a:rPr>
              <a:t>saves and shows it</a:t>
            </a:r>
          </a:p>
        </p:txBody>
      </p:sp>
      <p:sp>
        <p:nvSpPr>
          <p:cNvPr id="22" name="TextBox 21"/>
          <p:cNvSpPr txBox="1"/>
          <p:nvPr/>
        </p:nvSpPr>
        <p:spPr>
          <a:xfrm>
            <a:off x="822960" y="5212080"/>
            <a:ext cx="2331720" cy="320040"/>
          </a:xfrm>
          <a:prstGeom prst="rect">
            <a:avLst/>
          </a:prstGeom>
          <a:noFill/>
        </p:spPr>
        <p:txBody>
          <a:bodyPr wrap="square" lIns="36576" tIns="18288" rIns="36576" bIns="18288" anchor="t">
            <a:spAutoFit/>
          </a:bodyPr>
          <a:lstStyle/>
          <a:p>
            <a:pPr algn="ctr"/>
            <a:r>
              <a:rPr sz="1200" b="0" i="0">
                <a:solidFill>
                  <a:srgbClr val="96A8C4"/>
                </a:solidFill>
                <a:latin typeface="Segoe UI"/>
              </a:rPr>
              <a:t>needs help</a:t>
            </a:r>
          </a:p>
        </p:txBody>
      </p:sp>
      <p:sp>
        <p:nvSpPr>
          <p:cNvPr id="23" name="Right Arrow 22"/>
          <p:cNvSpPr/>
          <p:nvPr/>
        </p:nvSpPr>
        <p:spPr>
          <a:xfrm>
            <a:off x="3200400" y="3246120"/>
            <a:ext cx="365760" cy="457200"/>
          </a:xfrm>
          <a:prstGeom prst="rightArrow">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ight Arrow 23"/>
          <p:cNvSpPr/>
          <p:nvPr/>
        </p:nvSpPr>
        <p:spPr>
          <a:xfrm>
            <a:off x="5989320" y="3246120"/>
            <a:ext cx="365760" cy="457200"/>
          </a:xfrm>
          <a:prstGeom prst="rightArrow">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ight Arrow 24"/>
          <p:cNvSpPr/>
          <p:nvPr/>
        </p:nvSpPr>
        <p:spPr>
          <a:xfrm>
            <a:off x="8778240" y="3246120"/>
            <a:ext cx="365760" cy="457200"/>
          </a:xfrm>
          <a:prstGeom prst="rightArrow">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22960" y="5715000"/>
            <a:ext cx="10698480" cy="566928"/>
          </a:xfrm>
          <a:prstGeom prst="roundRect">
            <a:avLst>
              <a:gd name="adj" fmla="val 30000"/>
            </a:avLst>
          </a:prstGeom>
          <a:solidFill>
            <a:srgbClr val="0C2450">
              <a:alpha val="90000"/>
            </a:srgbClr>
          </a:solidFill>
          <a:ln w="15875">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760720"/>
            <a:ext cx="10698480" cy="457200"/>
          </a:xfrm>
          <a:prstGeom prst="rect">
            <a:avLst/>
          </a:prstGeom>
          <a:noFill/>
        </p:spPr>
        <p:txBody>
          <a:bodyPr wrap="square" lIns="36576" tIns="18288" rIns="36576" bIns="18288" anchor="ctr">
            <a:spAutoFit/>
          </a:bodyPr>
          <a:lstStyle/>
          <a:p>
            <a:pPr algn="ctr"/>
            <a:r>
              <a:rPr sz="1600" b="1" i="0">
                <a:solidFill>
                  <a:srgbClr val="EAF2FF"/>
                </a:solidFill>
                <a:latin typeface="Segoe UI"/>
              </a:rPr>
              <a:t>A stored report survives a temporary disconnection and goes onward when the next connection exists.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b.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THREE-PHONE ARCHITECTURE</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Two stages, one active link at a time</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4</a:t>
            </a:r>
          </a:p>
        </p:txBody>
      </p:sp>
      <p:pic>
        <p:nvPicPr>
          <p:cNvPr id="7" name="Picture 6" descr="phone_sender_sent.png"/>
          <p:cNvPicPr>
            <a:picLocks noChangeAspect="1"/>
          </p:cNvPicPr>
          <p:nvPr/>
        </p:nvPicPr>
        <p:blipFill>
          <a:blip r:embed="rId4"/>
          <a:stretch>
            <a:fillRect/>
          </a:stretch>
        </p:blipFill>
        <p:spPr>
          <a:xfrm>
            <a:off x="1417320" y="1874519"/>
            <a:ext cx="1556951" cy="3200400"/>
          </a:xfrm>
          <a:prstGeom prst="rect">
            <a:avLst/>
          </a:prstGeom>
        </p:spPr>
      </p:pic>
      <p:sp>
        <p:nvSpPr>
          <p:cNvPr id="8" name="TextBox 7"/>
          <p:cNvSpPr txBox="1"/>
          <p:nvPr/>
        </p:nvSpPr>
        <p:spPr>
          <a:xfrm>
            <a:off x="914400" y="5166360"/>
            <a:ext cx="2743200" cy="365760"/>
          </a:xfrm>
          <a:prstGeom prst="rect">
            <a:avLst/>
          </a:prstGeom>
          <a:noFill/>
        </p:spPr>
        <p:txBody>
          <a:bodyPr wrap="square" lIns="36576" tIns="18288" rIns="36576" bIns="18288" anchor="t">
            <a:spAutoFit/>
          </a:bodyPr>
          <a:lstStyle/>
          <a:p>
            <a:pPr algn="ctr"/>
            <a:r>
              <a:rPr sz="1700" b="1" i="0">
                <a:solidFill>
                  <a:srgbClr val="EAF2FF"/>
                </a:solidFill>
                <a:latin typeface="Segoe UI"/>
              </a:rPr>
              <a:t>iQOO 15</a:t>
            </a:r>
          </a:p>
        </p:txBody>
      </p:sp>
      <p:sp>
        <p:nvSpPr>
          <p:cNvPr id="9" name="TextBox 8"/>
          <p:cNvSpPr txBox="1"/>
          <p:nvPr/>
        </p:nvSpPr>
        <p:spPr>
          <a:xfrm>
            <a:off x="914400" y="5486400"/>
            <a:ext cx="2743200" cy="320040"/>
          </a:xfrm>
          <a:prstGeom prst="rect">
            <a:avLst/>
          </a:prstGeom>
          <a:noFill/>
        </p:spPr>
        <p:txBody>
          <a:bodyPr wrap="square" lIns="36576" tIns="18288" rIns="36576" bIns="18288" anchor="t">
            <a:spAutoFit/>
          </a:bodyPr>
          <a:lstStyle/>
          <a:p>
            <a:pPr algn="ctr"/>
            <a:r>
              <a:rPr sz="1300" b="0" i="0">
                <a:solidFill>
                  <a:srgbClr val="35E0FF"/>
                </a:solidFill>
                <a:latin typeface="Segoe UI"/>
              </a:rPr>
              <a:t>SOS Sender</a:t>
            </a:r>
          </a:p>
        </p:txBody>
      </p:sp>
      <p:pic>
        <p:nvPicPr>
          <p:cNvPr id="10" name="Picture 9" descr="phone_relay_linked.png"/>
          <p:cNvPicPr>
            <a:picLocks noChangeAspect="1"/>
          </p:cNvPicPr>
          <p:nvPr/>
        </p:nvPicPr>
        <p:blipFill>
          <a:blip r:embed="rId5"/>
          <a:stretch>
            <a:fillRect/>
          </a:stretch>
        </p:blipFill>
        <p:spPr>
          <a:xfrm>
            <a:off x="5166360" y="1874519"/>
            <a:ext cx="1556951" cy="3200400"/>
          </a:xfrm>
          <a:prstGeom prst="rect">
            <a:avLst/>
          </a:prstGeom>
        </p:spPr>
      </p:pic>
      <p:sp>
        <p:nvSpPr>
          <p:cNvPr id="11" name="TextBox 10"/>
          <p:cNvSpPr txBox="1"/>
          <p:nvPr/>
        </p:nvSpPr>
        <p:spPr>
          <a:xfrm>
            <a:off x="4663440" y="5166360"/>
            <a:ext cx="2743200" cy="365760"/>
          </a:xfrm>
          <a:prstGeom prst="rect">
            <a:avLst/>
          </a:prstGeom>
          <a:noFill/>
        </p:spPr>
        <p:txBody>
          <a:bodyPr wrap="square" lIns="36576" tIns="18288" rIns="36576" bIns="18288" anchor="t">
            <a:spAutoFit/>
          </a:bodyPr>
          <a:lstStyle/>
          <a:p>
            <a:pPr algn="ctr"/>
            <a:r>
              <a:rPr sz="1700" b="1" i="0">
                <a:solidFill>
                  <a:srgbClr val="EAF2FF"/>
                </a:solidFill>
                <a:latin typeface="Segoe UI"/>
              </a:rPr>
              <a:t>Vivo Y15</a:t>
            </a:r>
          </a:p>
        </p:txBody>
      </p:sp>
      <p:sp>
        <p:nvSpPr>
          <p:cNvPr id="12" name="TextBox 11"/>
          <p:cNvSpPr txBox="1"/>
          <p:nvPr/>
        </p:nvSpPr>
        <p:spPr>
          <a:xfrm>
            <a:off x="4663440" y="5486400"/>
            <a:ext cx="2743200" cy="320040"/>
          </a:xfrm>
          <a:prstGeom prst="rect">
            <a:avLst/>
          </a:prstGeom>
          <a:noFill/>
        </p:spPr>
        <p:txBody>
          <a:bodyPr wrap="square" lIns="36576" tIns="18288" rIns="36576" bIns="18288" anchor="t">
            <a:spAutoFit/>
          </a:bodyPr>
          <a:lstStyle/>
          <a:p>
            <a:pPr algn="ctr"/>
            <a:r>
              <a:rPr sz="1300" b="0" i="0">
                <a:solidFill>
                  <a:srgbClr val="35E0FF"/>
                </a:solidFill>
                <a:latin typeface="Segoe UI"/>
              </a:rPr>
              <a:t>Relay</a:t>
            </a:r>
          </a:p>
        </p:txBody>
      </p:sp>
      <p:pic>
        <p:nvPicPr>
          <p:cNvPr id="13" name="Picture 12" descr="phone_coordinator_received.png"/>
          <p:cNvPicPr>
            <a:picLocks noChangeAspect="1"/>
          </p:cNvPicPr>
          <p:nvPr/>
        </p:nvPicPr>
        <p:blipFill>
          <a:blip r:embed="rId6"/>
          <a:stretch>
            <a:fillRect/>
          </a:stretch>
        </p:blipFill>
        <p:spPr>
          <a:xfrm>
            <a:off x="8915400" y="1874519"/>
            <a:ext cx="1556951" cy="3200400"/>
          </a:xfrm>
          <a:prstGeom prst="rect">
            <a:avLst/>
          </a:prstGeom>
        </p:spPr>
      </p:pic>
      <p:sp>
        <p:nvSpPr>
          <p:cNvPr id="14" name="TextBox 13"/>
          <p:cNvSpPr txBox="1"/>
          <p:nvPr/>
        </p:nvSpPr>
        <p:spPr>
          <a:xfrm>
            <a:off x="8412480" y="5166360"/>
            <a:ext cx="2743200" cy="365760"/>
          </a:xfrm>
          <a:prstGeom prst="rect">
            <a:avLst/>
          </a:prstGeom>
          <a:noFill/>
        </p:spPr>
        <p:txBody>
          <a:bodyPr wrap="square" lIns="36576" tIns="18288" rIns="36576" bIns="18288" anchor="t">
            <a:spAutoFit/>
          </a:bodyPr>
          <a:lstStyle/>
          <a:p>
            <a:pPr algn="ctr"/>
            <a:r>
              <a:rPr sz="1700" b="1" i="0">
                <a:solidFill>
                  <a:srgbClr val="EAF2FF"/>
                </a:solidFill>
                <a:latin typeface="Segoe UI"/>
              </a:rPr>
              <a:t>Motorola Edge 30 Pro</a:t>
            </a:r>
          </a:p>
        </p:txBody>
      </p:sp>
      <p:sp>
        <p:nvSpPr>
          <p:cNvPr id="15" name="TextBox 14"/>
          <p:cNvSpPr txBox="1"/>
          <p:nvPr/>
        </p:nvSpPr>
        <p:spPr>
          <a:xfrm>
            <a:off x="8412480" y="5486400"/>
            <a:ext cx="2743200" cy="320040"/>
          </a:xfrm>
          <a:prstGeom prst="rect">
            <a:avLst/>
          </a:prstGeom>
          <a:noFill/>
        </p:spPr>
        <p:txBody>
          <a:bodyPr wrap="square" lIns="36576" tIns="18288" rIns="36576" bIns="18288" anchor="t">
            <a:spAutoFit/>
          </a:bodyPr>
          <a:lstStyle/>
          <a:p>
            <a:pPr algn="ctr"/>
            <a:r>
              <a:rPr sz="1300" b="0" i="0">
                <a:solidFill>
                  <a:srgbClr val="35E0FF"/>
                </a:solidFill>
                <a:latin typeface="Segoe UI"/>
              </a:rPr>
              <a:t>Coordinator</a:t>
            </a:r>
          </a:p>
        </p:txBody>
      </p:sp>
      <p:sp>
        <p:nvSpPr>
          <p:cNvPr id="16" name="Rounded Rectangle 15"/>
          <p:cNvSpPr/>
          <p:nvPr/>
        </p:nvSpPr>
        <p:spPr>
          <a:xfrm>
            <a:off x="1417320" y="1261872"/>
            <a:ext cx="3840480" cy="365760"/>
          </a:xfrm>
          <a:prstGeom prst="roundRect">
            <a:avLst>
              <a:gd name="adj" fmla="val 50000"/>
            </a:avLst>
          </a:prstGeom>
          <a:solidFill>
            <a:srgbClr val="0E2864">
              <a:alpha val="95000"/>
            </a:srgbClr>
          </a:solidFill>
          <a:ln w="12700">
            <a:solidFill>
              <a:srgbClr val="35E0FF"/>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35E0FF"/>
                </a:solidFill>
                <a:latin typeface="Segoe UI"/>
              </a:rPr>
              <a:t>STAGE A  -  iQOO  &lt;-&gt;  Vivo  (manual link)</a:t>
            </a:r>
          </a:p>
        </p:txBody>
      </p:sp>
      <p:cxnSp>
        <p:nvCxnSpPr>
          <p:cNvPr id="17" name="Connector 16"/>
          <p:cNvCxnSpPr/>
          <p:nvPr/>
        </p:nvCxnSpPr>
        <p:spPr>
          <a:xfrm>
            <a:off x="3108960" y="3291840"/>
            <a:ext cx="1965960" cy="0"/>
          </a:xfrm>
          <a:prstGeom prst="line">
            <a:avLst/>
          </a:prstGeom>
          <a:ln w="38100">
            <a:solidFill>
              <a:srgbClr val="35E0FF"/>
            </a:solidFill>
          </a:ln>
        </p:spPr>
        <p:style>
          <a:lnRef idx="2">
            <a:schemeClr val="accent1"/>
          </a:lnRef>
          <a:fillRef idx="0">
            <a:schemeClr val="accent1"/>
          </a:fillRef>
          <a:effectRef idx="1">
            <a:schemeClr val="accent1"/>
          </a:effectRef>
          <a:fontRef idx="minor">
            <a:schemeClr val="tx1"/>
          </a:fontRef>
        </p:style>
      </p:cxnSp>
      <p:pic>
        <p:nvPicPr>
          <p:cNvPr id="18" name="Picture 17" descr="bt_badge.png"/>
          <p:cNvPicPr>
            <a:picLocks noChangeAspect="1"/>
          </p:cNvPicPr>
          <p:nvPr/>
        </p:nvPicPr>
        <p:blipFill>
          <a:blip r:embed="rId7"/>
          <a:stretch>
            <a:fillRect/>
          </a:stretch>
        </p:blipFill>
        <p:spPr>
          <a:xfrm>
            <a:off x="3383280" y="2880360"/>
            <a:ext cx="822960" cy="822960"/>
          </a:xfrm>
          <a:prstGeom prst="rect">
            <a:avLst/>
          </a:prstGeom>
        </p:spPr>
      </p:pic>
      <p:sp>
        <p:nvSpPr>
          <p:cNvPr id="19" name="Rounded Rectangle 18"/>
          <p:cNvSpPr/>
          <p:nvPr/>
        </p:nvSpPr>
        <p:spPr>
          <a:xfrm>
            <a:off x="6583680" y="1261872"/>
            <a:ext cx="4480560" cy="365760"/>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FFB020"/>
                </a:solidFill>
                <a:latin typeface="Segoe UI"/>
              </a:rPr>
              <a:t>STAGE B  -  Vivo  &lt;-&gt;  Motorola  (manual, after A ends)</a:t>
            </a:r>
          </a:p>
        </p:txBody>
      </p:sp>
      <p:cxnSp>
        <p:nvCxnSpPr>
          <p:cNvPr id="20" name="Connector 19"/>
          <p:cNvCxnSpPr/>
          <p:nvPr/>
        </p:nvCxnSpPr>
        <p:spPr>
          <a:xfrm>
            <a:off x="6858000" y="3291840"/>
            <a:ext cx="1965960" cy="0"/>
          </a:xfrm>
          <a:prstGeom prst="line">
            <a:avLst/>
          </a:prstGeom>
          <a:ln w="38100">
            <a:solidFill>
              <a:srgbClr val="FFB020"/>
            </a:solidFill>
            <a:prstDash val="dash"/>
          </a:ln>
        </p:spPr>
        <p:style>
          <a:lnRef idx="2">
            <a:schemeClr val="accent1"/>
          </a:lnRef>
          <a:fillRef idx="0">
            <a:schemeClr val="accent1"/>
          </a:fillRef>
          <a:effectRef idx="1">
            <a:schemeClr val="accent1"/>
          </a:effectRef>
          <a:fontRef idx="minor">
            <a:schemeClr val="tx1"/>
          </a:fontRef>
        </p:style>
      </p:cxnSp>
      <p:pic>
        <p:nvPicPr>
          <p:cNvPr id="21" name="Picture 20" descr="bt_badge_later.png"/>
          <p:cNvPicPr>
            <a:picLocks noChangeAspect="1"/>
          </p:cNvPicPr>
          <p:nvPr/>
        </p:nvPicPr>
        <p:blipFill>
          <a:blip r:embed="rId8"/>
          <a:stretch>
            <a:fillRect/>
          </a:stretch>
        </p:blipFill>
        <p:spPr>
          <a:xfrm>
            <a:off x="7132320" y="2880360"/>
            <a:ext cx="822960" cy="822960"/>
          </a:xfrm>
          <a:prstGeom prst="rect">
            <a:avLst/>
          </a:prstGeom>
        </p:spPr>
      </p:pic>
      <p:sp>
        <p:nvSpPr>
          <p:cNvPr id="22" name="Rounded Rectangle 21"/>
          <p:cNvSpPr/>
          <p:nvPr/>
        </p:nvSpPr>
        <p:spPr>
          <a:xfrm>
            <a:off x="1097280" y="5989320"/>
            <a:ext cx="9966960" cy="457200"/>
          </a:xfrm>
          <a:prstGeom prst="roundRect">
            <a:avLst>
              <a:gd name="adj" fmla="val 50000"/>
            </a:avLst>
          </a:prstGeom>
          <a:solidFill>
            <a:srgbClr val="0A1837">
              <a:alpha val="70000"/>
            </a:srgbClr>
          </a:solidFill>
          <a:ln w="15875">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6016752"/>
            <a:ext cx="9966960" cy="411480"/>
          </a:xfrm>
          <a:prstGeom prst="rect">
            <a:avLst/>
          </a:prstGeom>
          <a:noFill/>
        </p:spPr>
        <p:txBody>
          <a:bodyPr wrap="square" lIns="36576" tIns="18288" rIns="36576" bIns="18288" anchor="t">
            <a:spAutoFit/>
          </a:bodyPr>
          <a:lstStyle/>
          <a:p>
            <a:pPr algn="ctr"/>
            <a:r>
              <a:rPr sz="1400" b="1" i="0">
                <a:solidFill>
                  <a:srgbClr val="EAF2FF"/>
                </a:solidFill>
                <a:latin typeface="Segoe UI"/>
              </a:rPr>
              <a:t>You connect each pair manually.  Forwarding of the stored SOS is automatic once Stage B is up.</a:t>
            </a:r>
          </a:p>
        </p:txBody>
      </p:sp>
      <p:sp>
        <p:nvSpPr>
          <p:cNvPr id="24" name="TextBox 23"/>
          <p:cNvSpPr txBox="1"/>
          <p:nvPr/>
        </p:nvSpPr>
        <p:spPr>
          <a:xfrm>
            <a:off x="8503920" y="365760"/>
            <a:ext cx="3200400" cy="274320"/>
          </a:xfrm>
          <a:prstGeom prst="rect">
            <a:avLst/>
          </a:prstGeom>
          <a:noFill/>
        </p:spPr>
        <p:txBody>
          <a:bodyPr wrap="square" lIns="36576" tIns="18288" rIns="36576" bIns="18288" anchor="t">
            <a:spAutoFit/>
          </a:bodyPr>
          <a:lstStyle/>
          <a:p>
            <a:pPr algn="r"/>
            <a:r>
              <a:rPr sz="1000" b="0" i="0">
                <a:solidFill>
                  <a:srgbClr val="96A0BE"/>
                </a:solidFill>
                <a:latin typeface="Segoe UI"/>
              </a:rPr>
              <a:t>Illustrative mockups, not screenshots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LIVE SOS WORKFLOW</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From first tap to a confirmed delivery</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5</a:t>
            </a:r>
          </a:p>
        </p:txBody>
      </p:sp>
      <p:sp>
        <p:nvSpPr>
          <p:cNvPr id="7" name="Rounded Rectangle 6"/>
          <p:cNvSpPr/>
          <p:nvPr/>
        </p:nvSpPr>
        <p:spPr>
          <a:xfrm>
            <a:off x="548640" y="1417320"/>
            <a:ext cx="1517904" cy="1234440"/>
          </a:xfrm>
          <a:prstGeom prst="roundRect">
            <a:avLst>
              <a:gd name="adj" fmla="val 12000"/>
            </a:avLst>
          </a:prstGeom>
          <a:solidFill>
            <a:srgbClr val="0D1A38">
              <a:alpha val="85000"/>
            </a:srgbClr>
          </a:solidFill>
          <a:ln w="15875">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40080" y="1508760"/>
            <a:ext cx="384048" cy="384048"/>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050B1A"/>
                </a:solidFill>
                <a:latin typeface="Segoe UI"/>
              </a:rPr>
              <a:t>1</a:t>
            </a:r>
          </a:p>
        </p:txBody>
      </p:sp>
      <p:sp>
        <p:nvSpPr>
          <p:cNvPr id="9" name="TextBox 8"/>
          <p:cNvSpPr txBox="1"/>
          <p:nvPr/>
        </p:nvSpPr>
        <p:spPr>
          <a:xfrm>
            <a:off x="621792" y="1938528"/>
            <a:ext cx="1389888" cy="713232"/>
          </a:xfrm>
          <a:prstGeom prst="rect">
            <a:avLst/>
          </a:prstGeom>
          <a:noFill/>
        </p:spPr>
        <p:txBody>
          <a:bodyPr wrap="square" lIns="36576" tIns="18288" rIns="36576" bIns="18288" anchor="t">
            <a:spAutoFit/>
          </a:bodyPr>
          <a:lstStyle/>
          <a:p>
            <a:pPr algn="l"/>
            <a:r>
              <a:rPr sz="1250" b="1" i="0">
                <a:solidFill>
                  <a:srgbClr val="EAF2FF"/>
                </a:solidFill>
                <a:latin typeface="Segoe UI"/>
              </a:rPr>
              <a:t>Create SOS</a:t>
            </a:r>
          </a:p>
        </p:txBody>
      </p:sp>
      <p:sp>
        <p:nvSpPr>
          <p:cNvPr id="10" name="Rounded Rectangle 9"/>
          <p:cNvSpPr/>
          <p:nvPr/>
        </p:nvSpPr>
        <p:spPr>
          <a:xfrm>
            <a:off x="2139696" y="1417320"/>
            <a:ext cx="1517904" cy="1234440"/>
          </a:xfrm>
          <a:prstGeom prst="roundRect">
            <a:avLst>
              <a:gd name="adj" fmla="val 12000"/>
            </a:avLst>
          </a:prstGeom>
          <a:solidFill>
            <a:srgbClr val="0D1A38">
              <a:alpha val="85000"/>
            </a:srgbClr>
          </a:solidFill>
          <a:ln w="15875">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231136" y="1508760"/>
            <a:ext cx="384048" cy="384048"/>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050B1A"/>
                </a:solidFill>
                <a:latin typeface="Segoe UI"/>
              </a:rPr>
              <a:t>2</a:t>
            </a:r>
          </a:p>
        </p:txBody>
      </p:sp>
      <p:sp>
        <p:nvSpPr>
          <p:cNvPr id="12" name="TextBox 11"/>
          <p:cNvSpPr txBox="1"/>
          <p:nvPr/>
        </p:nvSpPr>
        <p:spPr>
          <a:xfrm>
            <a:off x="2212848" y="1938528"/>
            <a:ext cx="1389888" cy="713232"/>
          </a:xfrm>
          <a:prstGeom prst="rect">
            <a:avLst/>
          </a:prstGeom>
          <a:noFill/>
        </p:spPr>
        <p:txBody>
          <a:bodyPr wrap="square" lIns="36576" tIns="18288" rIns="36576" bIns="18288" anchor="t">
            <a:spAutoFit/>
          </a:bodyPr>
          <a:lstStyle/>
          <a:p>
            <a:pPr algn="l"/>
            <a:r>
              <a:rPr sz="1250" b="1" i="0">
                <a:solidFill>
                  <a:srgbClr val="EAF2FF"/>
                </a:solidFill>
                <a:latin typeface="Segoe UI"/>
              </a:rPr>
              <a:t>Send to Relay</a:t>
            </a:r>
          </a:p>
        </p:txBody>
      </p:sp>
      <p:sp>
        <p:nvSpPr>
          <p:cNvPr id="13" name="Rounded Rectangle 12"/>
          <p:cNvSpPr/>
          <p:nvPr/>
        </p:nvSpPr>
        <p:spPr>
          <a:xfrm>
            <a:off x="3730752" y="1417320"/>
            <a:ext cx="1517904" cy="1234440"/>
          </a:xfrm>
          <a:prstGeom prst="roundRect">
            <a:avLst>
              <a:gd name="adj" fmla="val 12000"/>
            </a:avLst>
          </a:prstGeom>
          <a:solidFill>
            <a:srgbClr val="0D1A38">
              <a:alpha val="85000"/>
            </a:srgbClr>
          </a:solidFill>
          <a:ln w="15875">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822191" y="1508760"/>
            <a:ext cx="384048" cy="384048"/>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050B1A"/>
                </a:solidFill>
                <a:latin typeface="Segoe UI"/>
              </a:rPr>
              <a:t>3</a:t>
            </a:r>
          </a:p>
        </p:txBody>
      </p:sp>
      <p:sp>
        <p:nvSpPr>
          <p:cNvPr id="15" name="TextBox 14"/>
          <p:cNvSpPr txBox="1"/>
          <p:nvPr/>
        </p:nvSpPr>
        <p:spPr>
          <a:xfrm>
            <a:off x="3803904" y="1938528"/>
            <a:ext cx="1389888" cy="713232"/>
          </a:xfrm>
          <a:prstGeom prst="rect">
            <a:avLst/>
          </a:prstGeom>
          <a:noFill/>
        </p:spPr>
        <p:txBody>
          <a:bodyPr wrap="square" lIns="36576" tIns="18288" rIns="36576" bIns="18288" anchor="t">
            <a:spAutoFit/>
          </a:bodyPr>
          <a:lstStyle/>
          <a:p>
            <a:pPr algn="l"/>
            <a:r>
              <a:rPr sz="1250" b="1" i="0">
                <a:solidFill>
                  <a:srgbClr val="EAF2FF"/>
                </a:solidFill>
                <a:latin typeface="Segoe UI"/>
              </a:rPr>
              <a:t>Relay saves it, then ACKs</a:t>
            </a:r>
          </a:p>
        </p:txBody>
      </p:sp>
      <p:sp>
        <p:nvSpPr>
          <p:cNvPr id="16" name="Rounded Rectangle 15"/>
          <p:cNvSpPr/>
          <p:nvPr/>
        </p:nvSpPr>
        <p:spPr>
          <a:xfrm>
            <a:off x="5321807" y="1417320"/>
            <a:ext cx="1517904" cy="1234440"/>
          </a:xfrm>
          <a:prstGeom prst="roundRect">
            <a:avLst>
              <a:gd name="adj" fmla="val 12000"/>
            </a:avLst>
          </a:prstGeom>
          <a:solidFill>
            <a:srgbClr val="0D1A38">
              <a:alpha val="85000"/>
            </a:srgbClr>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413247" y="1508760"/>
            <a:ext cx="384048" cy="384048"/>
          </a:xfrm>
          <a:prstGeom prst="ellipse">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050B1A"/>
                </a:solidFill>
                <a:latin typeface="Segoe UI"/>
              </a:rPr>
              <a:t>4</a:t>
            </a:r>
          </a:p>
        </p:txBody>
      </p:sp>
      <p:sp>
        <p:nvSpPr>
          <p:cNvPr id="18" name="TextBox 17"/>
          <p:cNvSpPr txBox="1"/>
          <p:nvPr/>
        </p:nvSpPr>
        <p:spPr>
          <a:xfrm>
            <a:off x="5394959" y="1938528"/>
            <a:ext cx="1389888" cy="713232"/>
          </a:xfrm>
          <a:prstGeom prst="rect">
            <a:avLst/>
          </a:prstGeom>
          <a:noFill/>
        </p:spPr>
        <p:txBody>
          <a:bodyPr wrap="square" lIns="36576" tIns="18288" rIns="36576" bIns="18288" anchor="t">
            <a:spAutoFit/>
          </a:bodyPr>
          <a:lstStyle/>
          <a:p>
            <a:pPr algn="l"/>
            <a:r>
              <a:rPr sz="1250" b="1" i="0">
                <a:solidFill>
                  <a:srgbClr val="EAF2FF"/>
                </a:solidFill>
                <a:latin typeface="Segoe UI"/>
              </a:rPr>
              <a:t>Original link ends</a:t>
            </a:r>
          </a:p>
        </p:txBody>
      </p:sp>
      <p:sp>
        <p:nvSpPr>
          <p:cNvPr id="19" name="Rounded Rectangle 18"/>
          <p:cNvSpPr/>
          <p:nvPr/>
        </p:nvSpPr>
        <p:spPr>
          <a:xfrm>
            <a:off x="6912864" y="1417320"/>
            <a:ext cx="1517904" cy="1234440"/>
          </a:xfrm>
          <a:prstGeom prst="roundRect">
            <a:avLst>
              <a:gd name="adj" fmla="val 12000"/>
            </a:avLst>
          </a:prstGeom>
          <a:solidFill>
            <a:srgbClr val="0D1A38">
              <a:alpha val="85000"/>
            </a:srgbClr>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04303" y="1508760"/>
            <a:ext cx="384048" cy="384048"/>
          </a:xfrm>
          <a:prstGeom prst="ellipse">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050B1A"/>
                </a:solidFill>
                <a:latin typeface="Segoe UI"/>
              </a:rPr>
              <a:t>5</a:t>
            </a:r>
          </a:p>
        </p:txBody>
      </p:sp>
      <p:sp>
        <p:nvSpPr>
          <p:cNvPr id="21" name="TextBox 20"/>
          <p:cNvSpPr txBox="1"/>
          <p:nvPr/>
        </p:nvSpPr>
        <p:spPr>
          <a:xfrm>
            <a:off x="6986016" y="1938528"/>
            <a:ext cx="1389888" cy="713232"/>
          </a:xfrm>
          <a:prstGeom prst="rect">
            <a:avLst/>
          </a:prstGeom>
          <a:noFill/>
        </p:spPr>
        <p:txBody>
          <a:bodyPr wrap="square" lIns="36576" tIns="18288" rIns="36576" bIns="18288" anchor="t">
            <a:spAutoFit/>
          </a:bodyPr>
          <a:lstStyle/>
          <a:p>
            <a:pPr algn="l"/>
            <a:r>
              <a:rPr sz="1250" b="1" i="0">
                <a:solidFill>
                  <a:srgbClr val="EAF2FF"/>
                </a:solidFill>
                <a:latin typeface="Segoe UI"/>
              </a:rPr>
              <a:t>Connect to Coordinator (manual)</a:t>
            </a:r>
          </a:p>
        </p:txBody>
      </p:sp>
      <p:sp>
        <p:nvSpPr>
          <p:cNvPr id="22" name="Rounded Rectangle 21"/>
          <p:cNvSpPr/>
          <p:nvPr/>
        </p:nvSpPr>
        <p:spPr>
          <a:xfrm>
            <a:off x="8503919" y="1417320"/>
            <a:ext cx="1517904" cy="1234440"/>
          </a:xfrm>
          <a:prstGeom prst="roundRect">
            <a:avLst>
              <a:gd name="adj" fmla="val 12000"/>
            </a:avLst>
          </a:prstGeom>
          <a:solidFill>
            <a:srgbClr val="0D1A38">
              <a:alpha val="85000"/>
            </a:srgbClr>
          </a:solidFill>
          <a:ln w="15875">
            <a:solidFill>
              <a:srgbClr val="00DF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595359" y="1508760"/>
            <a:ext cx="384048" cy="384048"/>
          </a:xfrm>
          <a:prstGeom prst="ellipse">
            <a:avLst/>
          </a:prstGeom>
          <a:solidFill>
            <a:srgbClr val="00DF81"/>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050B1A"/>
                </a:solidFill>
                <a:latin typeface="Segoe UI"/>
              </a:rPr>
              <a:t>6</a:t>
            </a:r>
          </a:p>
        </p:txBody>
      </p:sp>
      <p:sp>
        <p:nvSpPr>
          <p:cNvPr id="24" name="TextBox 23"/>
          <p:cNvSpPr txBox="1"/>
          <p:nvPr/>
        </p:nvSpPr>
        <p:spPr>
          <a:xfrm>
            <a:off x="8577072" y="1938528"/>
            <a:ext cx="1389888" cy="713232"/>
          </a:xfrm>
          <a:prstGeom prst="rect">
            <a:avLst/>
          </a:prstGeom>
          <a:noFill/>
        </p:spPr>
        <p:txBody>
          <a:bodyPr wrap="square" lIns="36576" tIns="18288" rIns="36576" bIns="18288" anchor="t">
            <a:spAutoFit/>
          </a:bodyPr>
          <a:lstStyle/>
          <a:p>
            <a:pPr algn="l"/>
            <a:r>
              <a:rPr sz="1250" b="1" i="0">
                <a:solidFill>
                  <a:srgbClr val="EAF2FF"/>
                </a:solidFill>
                <a:latin typeface="Segoe UI"/>
              </a:rPr>
              <a:t>Forward automatically</a:t>
            </a:r>
          </a:p>
        </p:txBody>
      </p:sp>
      <p:sp>
        <p:nvSpPr>
          <p:cNvPr id="25" name="Rounded Rectangle 24"/>
          <p:cNvSpPr/>
          <p:nvPr/>
        </p:nvSpPr>
        <p:spPr>
          <a:xfrm>
            <a:off x="10094976" y="1417320"/>
            <a:ext cx="1517904" cy="1234440"/>
          </a:xfrm>
          <a:prstGeom prst="roundRect">
            <a:avLst>
              <a:gd name="adj" fmla="val 12000"/>
            </a:avLst>
          </a:prstGeom>
          <a:solidFill>
            <a:srgbClr val="0D1A38">
              <a:alpha val="85000"/>
            </a:srgbClr>
          </a:solidFill>
          <a:ln w="15875">
            <a:solidFill>
              <a:srgbClr val="00DF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186415" y="1508760"/>
            <a:ext cx="384048" cy="384048"/>
          </a:xfrm>
          <a:prstGeom prst="ellipse">
            <a:avLst/>
          </a:prstGeom>
          <a:solidFill>
            <a:srgbClr val="00DF81"/>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050B1A"/>
                </a:solidFill>
                <a:latin typeface="Segoe UI"/>
              </a:rPr>
              <a:t>7</a:t>
            </a:r>
          </a:p>
        </p:txBody>
      </p:sp>
      <p:sp>
        <p:nvSpPr>
          <p:cNvPr id="27" name="TextBox 26"/>
          <p:cNvSpPr txBox="1"/>
          <p:nvPr/>
        </p:nvSpPr>
        <p:spPr>
          <a:xfrm>
            <a:off x="10168128" y="1938528"/>
            <a:ext cx="1389888" cy="713232"/>
          </a:xfrm>
          <a:prstGeom prst="rect">
            <a:avLst/>
          </a:prstGeom>
          <a:noFill/>
        </p:spPr>
        <p:txBody>
          <a:bodyPr wrap="square" lIns="36576" tIns="18288" rIns="36576" bIns="18288" anchor="t">
            <a:spAutoFit/>
          </a:bodyPr>
          <a:lstStyle/>
          <a:p>
            <a:pPr algn="l"/>
            <a:r>
              <a:rPr sz="1250" b="1" i="0">
                <a:solidFill>
                  <a:srgbClr val="EAF2FF"/>
                </a:solidFill>
                <a:latin typeface="Segoe UI"/>
              </a:rPr>
              <a:t>Coordinator saves + ACKs</a:t>
            </a:r>
          </a:p>
        </p:txBody>
      </p:sp>
      <p:sp>
        <p:nvSpPr>
          <p:cNvPr id="28" name="Rounded Rectangle 27"/>
          <p:cNvSpPr/>
          <p:nvPr/>
        </p:nvSpPr>
        <p:spPr>
          <a:xfrm>
            <a:off x="548640" y="2880360"/>
            <a:ext cx="2606040" cy="3337560"/>
          </a:xfrm>
          <a:prstGeom prst="roundRect">
            <a:avLst>
              <a:gd name="adj" fmla="val 12000"/>
            </a:avLst>
          </a:prstGeom>
          <a:solidFill>
            <a:srgbClr val="0D1A38">
              <a:alpha val="60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2926080"/>
            <a:ext cx="2606040" cy="274320"/>
          </a:xfrm>
          <a:prstGeom prst="rect">
            <a:avLst/>
          </a:prstGeom>
          <a:noFill/>
        </p:spPr>
        <p:txBody>
          <a:bodyPr wrap="square" lIns="36576" tIns="18288" rIns="36576" bIns="18288" anchor="t">
            <a:spAutoFit/>
          </a:bodyPr>
          <a:lstStyle/>
          <a:p>
            <a:pPr algn="ctr"/>
            <a:r>
              <a:rPr sz="1300" b="1" i="0">
                <a:solidFill>
                  <a:srgbClr val="35E0FF"/>
                </a:solidFill>
                <a:latin typeface="Segoe UI"/>
              </a:rPr>
              <a:t>Steps 1-3</a:t>
            </a:r>
          </a:p>
        </p:txBody>
      </p:sp>
      <p:pic>
        <p:nvPicPr>
          <p:cNvPr id="30" name="Picture 29" descr="phone_sender_sent.png"/>
          <p:cNvPicPr>
            <a:picLocks noChangeAspect="1"/>
          </p:cNvPicPr>
          <p:nvPr/>
        </p:nvPicPr>
        <p:blipFill>
          <a:blip r:embed="rId4"/>
          <a:stretch>
            <a:fillRect/>
          </a:stretch>
        </p:blipFill>
        <p:spPr>
          <a:xfrm>
            <a:off x="640080" y="3246120"/>
            <a:ext cx="1134350" cy="2331720"/>
          </a:xfrm>
          <a:prstGeom prst="rect">
            <a:avLst/>
          </a:prstGeom>
        </p:spPr>
      </p:pic>
      <p:pic>
        <p:nvPicPr>
          <p:cNvPr id="31" name="Picture 30" descr="phone_relay_held.png"/>
          <p:cNvPicPr>
            <a:picLocks noChangeAspect="1"/>
          </p:cNvPicPr>
          <p:nvPr/>
        </p:nvPicPr>
        <p:blipFill>
          <a:blip r:embed="rId5"/>
          <a:stretch>
            <a:fillRect/>
          </a:stretch>
        </p:blipFill>
        <p:spPr>
          <a:xfrm>
            <a:off x="1920240" y="3246120"/>
            <a:ext cx="1134350" cy="2331720"/>
          </a:xfrm>
          <a:prstGeom prst="rect">
            <a:avLst/>
          </a:prstGeom>
        </p:spPr>
      </p:pic>
      <p:sp>
        <p:nvSpPr>
          <p:cNvPr id="32" name="TextBox 31"/>
          <p:cNvSpPr txBox="1"/>
          <p:nvPr/>
        </p:nvSpPr>
        <p:spPr>
          <a:xfrm>
            <a:off x="548640" y="5669280"/>
            <a:ext cx="2606040" cy="457200"/>
          </a:xfrm>
          <a:prstGeom prst="rect">
            <a:avLst/>
          </a:prstGeom>
          <a:noFill/>
        </p:spPr>
        <p:txBody>
          <a:bodyPr wrap="square" lIns="36576" tIns="18288" rIns="36576" bIns="18288" anchor="t">
            <a:spAutoFit/>
          </a:bodyPr>
          <a:lstStyle/>
          <a:p>
            <a:pPr algn="ctr"/>
            <a:r>
              <a:rPr sz="1200" b="0" i="0">
                <a:solidFill>
                  <a:srgbClr val="C8D4EB"/>
                </a:solidFill>
                <a:latin typeface="Segoe UI"/>
              </a:rPr>
              <a:t>Sender ACKed by Relay</a:t>
            </a:r>
          </a:p>
        </p:txBody>
      </p:sp>
      <p:sp>
        <p:nvSpPr>
          <p:cNvPr id="33" name="Rounded Rectangle 32"/>
          <p:cNvSpPr/>
          <p:nvPr/>
        </p:nvSpPr>
        <p:spPr>
          <a:xfrm>
            <a:off x="3291840" y="2880360"/>
            <a:ext cx="2606040" cy="3337560"/>
          </a:xfrm>
          <a:prstGeom prst="roundRect">
            <a:avLst>
              <a:gd name="adj" fmla="val 12000"/>
            </a:avLst>
          </a:prstGeom>
          <a:solidFill>
            <a:srgbClr val="0D1A38">
              <a:alpha val="60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91840" y="2926080"/>
            <a:ext cx="2606040" cy="274320"/>
          </a:xfrm>
          <a:prstGeom prst="rect">
            <a:avLst/>
          </a:prstGeom>
          <a:noFill/>
        </p:spPr>
        <p:txBody>
          <a:bodyPr wrap="square" lIns="36576" tIns="18288" rIns="36576" bIns="18288" anchor="t">
            <a:spAutoFit/>
          </a:bodyPr>
          <a:lstStyle/>
          <a:p>
            <a:pPr algn="ctr"/>
            <a:r>
              <a:rPr sz="1300" b="1" i="0">
                <a:solidFill>
                  <a:srgbClr val="35E0FF"/>
                </a:solidFill>
                <a:latin typeface="Segoe UI"/>
              </a:rPr>
              <a:t>Step 4</a:t>
            </a:r>
          </a:p>
        </p:txBody>
      </p:sp>
      <p:pic>
        <p:nvPicPr>
          <p:cNvPr id="35" name="Picture 34" descr="phone_relay_held.png"/>
          <p:cNvPicPr>
            <a:picLocks noChangeAspect="1"/>
          </p:cNvPicPr>
          <p:nvPr/>
        </p:nvPicPr>
        <p:blipFill>
          <a:blip r:embed="rId5"/>
          <a:stretch>
            <a:fillRect/>
          </a:stretch>
        </p:blipFill>
        <p:spPr>
          <a:xfrm>
            <a:off x="4023360" y="3246120"/>
            <a:ext cx="1134350" cy="2331720"/>
          </a:xfrm>
          <a:prstGeom prst="rect">
            <a:avLst/>
          </a:prstGeom>
        </p:spPr>
      </p:pic>
      <p:sp>
        <p:nvSpPr>
          <p:cNvPr id="36" name="TextBox 35"/>
          <p:cNvSpPr txBox="1"/>
          <p:nvPr/>
        </p:nvSpPr>
        <p:spPr>
          <a:xfrm>
            <a:off x="3291840" y="5669280"/>
            <a:ext cx="2606040" cy="457200"/>
          </a:xfrm>
          <a:prstGeom prst="rect">
            <a:avLst/>
          </a:prstGeom>
          <a:noFill/>
        </p:spPr>
        <p:txBody>
          <a:bodyPr wrap="square" lIns="36576" tIns="18288" rIns="36576" bIns="18288" anchor="t">
            <a:spAutoFit/>
          </a:bodyPr>
          <a:lstStyle/>
          <a:p>
            <a:pPr algn="ctr"/>
            <a:r>
              <a:rPr sz="1200" b="0" i="0">
                <a:solidFill>
                  <a:srgbClr val="C8D4EB"/>
                </a:solidFill>
                <a:latin typeface="Segoe UI"/>
              </a:rPr>
              <a:t>Relay holds the pending SOS</a:t>
            </a:r>
          </a:p>
        </p:txBody>
      </p:sp>
      <p:sp>
        <p:nvSpPr>
          <p:cNvPr id="37" name="Rounded Rectangle 36"/>
          <p:cNvSpPr/>
          <p:nvPr/>
        </p:nvSpPr>
        <p:spPr>
          <a:xfrm>
            <a:off x="6035040" y="2880360"/>
            <a:ext cx="2606040" cy="3337560"/>
          </a:xfrm>
          <a:prstGeom prst="roundRect">
            <a:avLst>
              <a:gd name="adj" fmla="val 12000"/>
            </a:avLst>
          </a:prstGeom>
          <a:solidFill>
            <a:srgbClr val="0D1A38">
              <a:alpha val="60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35040" y="2926080"/>
            <a:ext cx="2606040" cy="274320"/>
          </a:xfrm>
          <a:prstGeom prst="rect">
            <a:avLst/>
          </a:prstGeom>
          <a:noFill/>
        </p:spPr>
        <p:txBody>
          <a:bodyPr wrap="square" lIns="36576" tIns="18288" rIns="36576" bIns="18288" anchor="t">
            <a:spAutoFit/>
          </a:bodyPr>
          <a:lstStyle/>
          <a:p>
            <a:pPr algn="ctr"/>
            <a:r>
              <a:rPr sz="1300" b="1" i="0">
                <a:solidFill>
                  <a:srgbClr val="35E0FF"/>
                </a:solidFill>
                <a:latin typeface="Segoe UI"/>
              </a:rPr>
              <a:t>Steps 5-6</a:t>
            </a:r>
          </a:p>
        </p:txBody>
      </p:sp>
      <p:pic>
        <p:nvPicPr>
          <p:cNvPr id="39" name="Picture 38" descr="phone_relay_forwarding.png"/>
          <p:cNvPicPr>
            <a:picLocks noChangeAspect="1"/>
          </p:cNvPicPr>
          <p:nvPr/>
        </p:nvPicPr>
        <p:blipFill>
          <a:blip r:embed="rId6"/>
          <a:stretch>
            <a:fillRect/>
          </a:stretch>
        </p:blipFill>
        <p:spPr>
          <a:xfrm>
            <a:off x="6126479" y="3246120"/>
            <a:ext cx="1134350" cy="2331720"/>
          </a:xfrm>
          <a:prstGeom prst="rect">
            <a:avLst/>
          </a:prstGeom>
        </p:spPr>
      </p:pic>
      <p:pic>
        <p:nvPicPr>
          <p:cNvPr id="40" name="Picture 39" descr="phone_coordinator_connected.png"/>
          <p:cNvPicPr>
            <a:picLocks noChangeAspect="1"/>
          </p:cNvPicPr>
          <p:nvPr/>
        </p:nvPicPr>
        <p:blipFill>
          <a:blip r:embed="rId7"/>
          <a:stretch>
            <a:fillRect/>
          </a:stretch>
        </p:blipFill>
        <p:spPr>
          <a:xfrm>
            <a:off x="7406640" y="3246120"/>
            <a:ext cx="1134350" cy="2331720"/>
          </a:xfrm>
          <a:prstGeom prst="rect">
            <a:avLst/>
          </a:prstGeom>
        </p:spPr>
      </p:pic>
      <p:sp>
        <p:nvSpPr>
          <p:cNvPr id="41" name="TextBox 40"/>
          <p:cNvSpPr txBox="1"/>
          <p:nvPr/>
        </p:nvSpPr>
        <p:spPr>
          <a:xfrm>
            <a:off x="6035040" y="5669280"/>
            <a:ext cx="2606040" cy="457200"/>
          </a:xfrm>
          <a:prstGeom prst="rect">
            <a:avLst/>
          </a:prstGeom>
          <a:noFill/>
        </p:spPr>
        <p:txBody>
          <a:bodyPr wrap="square" lIns="36576" tIns="18288" rIns="36576" bIns="18288" anchor="t">
            <a:spAutoFit/>
          </a:bodyPr>
          <a:lstStyle/>
          <a:p>
            <a:pPr algn="ctr"/>
            <a:r>
              <a:rPr sz="1200" b="0" i="0">
                <a:solidFill>
                  <a:srgbClr val="C8D4EB"/>
                </a:solidFill>
                <a:latin typeface="Segoe UI"/>
              </a:rPr>
              <a:t>Auto-forward, awaiting ACK</a:t>
            </a:r>
          </a:p>
        </p:txBody>
      </p:sp>
      <p:sp>
        <p:nvSpPr>
          <p:cNvPr id="42" name="Rounded Rectangle 41"/>
          <p:cNvSpPr/>
          <p:nvPr/>
        </p:nvSpPr>
        <p:spPr>
          <a:xfrm>
            <a:off x="8778240" y="2880360"/>
            <a:ext cx="2606040" cy="3337560"/>
          </a:xfrm>
          <a:prstGeom prst="roundRect">
            <a:avLst>
              <a:gd name="adj" fmla="val 12000"/>
            </a:avLst>
          </a:prstGeom>
          <a:solidFill>
            <a:srgbClr val="0D1A38">
              <a:alpha val="60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778240" y="2926080"/>
            <a:ext cx="2606040" cy="274320"/>
          </a:xfrm>
          <a:prstGeom prst="rect">
            <a:avLst/>
          </a:prstGeom>
          <a:noFill/>
        </p:spPr>
        <p:txBody>
          <a:bodyPr wrap="square" lIns="36576" tIns="18288" rIns="36576" bIns="18288" anchor="t">
            <a:spAutoFit/>
          </a:bodyPr>
          <a:lstStyle/>
          <a:p>
            <a:pPr algn="ctr"/>
            <a:r>
              <a:rPr sz="1300" b="1" i="0">
                <a:solidFill>
                  <a:srgbClr val="35E0FF"/>
                </a:solidFill>
                <a:latin typeface="Segoe UI"/>
              </a:rPr>
              <a:t>Step 7</a:t>
            </a:r>
          </a:p>
        </p:txBody>
      </p:sp>
      <p:pic>
        <p:nvPicPr>
          <p:cNvPr id="44" name="Picture 43" descr="phone_relay_delivered.png"/>
          <p:cNvPicPr>
            <a:picLocks noChangeAspect="1"/>
          </p:cNvPicPr>
          <p:nvPr/>
        </p:nvPicPr>
        <p:blipFill>
          <a:blip r:embed="rId8"/>
          <a:stretch>
            <a:fillRect/>
          </a:stretch>
        </p:blipFill>
        <p:spPr>
          <a:xfrm>
            <a:off x="8869680" y="3246120"/>
            <a:ext cx="1134350" cy="2331720"/>
          </a:xfrm>
          <a:prstGeom prst="rect">
            <a:avLst/>
          </a:prstGeom>
        </p:spPr>
      </p:pic>
      <p:pic>
        <p:nvPicPr>
          <p:cNvPr id="45" name="Picture 44" descr="phone_coordinator_received.png"/>
          <p:cNvPicPr>
            <a:picLocks noChangeAspect="1"/>
          </p:cNvPicPr>
          <p:nvPr/>
        </p:nvPicPr>
        <p:blipFill>
          <a:blip r:embed="rId9"/>
          <a:stretch>
            <a:fillRect/>
          </a:stretch>
        </p:blipFill>
        <p:spPr>
          <a:xfrm>
            <a:off x="10149840" y="3246120"/>
            <a:ext cx="1134350" cy="2331720"/>
          </a:xfrm>
          <a:prstGeom prst="rect">
            <a:avLst/>
          </a:prstGeom>
        </p:spPr>
      </p:pic>
      <p:sp>
        <p:nvSpPr>
          <p:cNvPr id="46" name="TextBox 45"/>
          <p:cNvSpPr txBox="1"/>
          <p:nvPr/>
        </p:nvSpPr>
        <p:spPr>
          <a:xfrm>
            <a:off x="8778240" y="5669280"/>
            <a:ext cx="2606040" cy="457200"/>
          </a:xfrm>
          <a:prstGeom prst="rect">
            <a:avLst/>
          </a:prstGeom>
          <a:noFill/>
        </p:spPr>
        <p:txBody>
          <a:bodyPr wrap="square" lIns="36576" tIns="18288" rIns="36576" bIns="18288" anchor="t">
            <a:spAutoFit/>
          </a:bodyPr>
          <a:lstStyle/>
          <a:p>
            <a:pPr algn="ctr"/>
            <a:r>
              <a:rPr sz="1200" b="0" i="0">
                <a:solidFill>
                  <a:srgbClr val="C8D4EB"/>
                </a:solidFill>
                <a:latin typeface="Segoe UI"/>
              </a:rPr>
              <a:t>Delivered only after ACK</a:t>
            </a:r>
          </a:p>
        </p:txBody>
      </p:sp>
      <p:sp>
        <p:nvSpPr>
          <p:cNvPr id="47" name="TextBox 46"/>
          <p:cNvSpPr txBox="1"/>
          <p:nvPr/>
        </p:nvSpPr>
        <p:spPr>
          <a:xfrm>
            <a:off x="7315200" y="384048"/>
            <a:ext cx="4389120" cy="274320"/>
          </a:xfrm>
          <a:prstGeom prst="rect">
            <a:avLst/>
          </a:prstGeom>
          <a:noFill/>
        </p:spPr>
        <p:txBody>
          <a:bodyPr wrap="square" lIns="36576" tIns="18288" rIns="36576" bIns="18288" anchor="t">
            <a:spAutoFit/>
          </a:bodyPr>
          <a:lstStyle/>
          <a:p>
            <a:pPr algn="r"/>
            <a:r>
              <a:rPr sz="1000" b="0" i="0">
                <a:solidFill>
                  <a:srgbClr val="96A0BE"/>
                </a:solidFill>
                <a:latin typeface="Segoe UI"/>
              </a:rPr>
              <a:t>Illustrative mockups, not screenshots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a.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RELIABILITY AND DATA INTEGRITY</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A report is never 'delivered' on a hunch</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6</a:t>
            </a:r>
          </a:p>
        </p:txBody>
      </p:sp>
      <p:sp>
        <p:nvSpPr>
          <p:cNvPr id="7" name="Rounded Rectangle 6"/>
          <p:cNvSpPr/>
          <p:nvPr/>
        </p:nvSpPr>
        <p:spPr>
          <a:xfrm>
            <a:off x="548640" y="1417320"/>
            <a:ext cx="3566160" cy="1188720"/>
          </a:xfrm>
          <a:prstGeom prst="roundRect">
            <a:avLst>
              <a:gd name="adj" fmla="val 12000"/>
            </a:avLst>
          </a:prstGeom>
          <a:solidFill>
            <a:srgbClr val="0D1A38">
              <a:alpha val="88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581912"/>
            <a:ext cx="64008" cy="859536"/>
          </a:xfrm>
          <a:prstGeom prst="rect">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527048"/>
            <a:ext cx="3246120" cy="365760"/>
          </a:xfrm>
          <a:prstGeom prst="rect">
            <a:avLst/>
          </a:prstGeom>
          <a:noFill/>
        </p:spPr>
        <p:txBody>
          <a:bodyPr wrap="square" lIns="36576" tIns="18288" rIns="36576" bIns="18288" anchor="t">
            <a:spAutoFit/>
          </a:bodyPr>
          <a:lstStyle/>
          <a:p>
            <a:pPr algn="l"/>
            <a:r>
              <a:rPr sz="1600" b="1" i="0">
                <a:solidFill>
                  <a:srgbClr val="EAF2FF"/>
                </a:solidFill>
                <a:latin typeface="Segoe UI"/>
              </a:rPr>
              <a:t>Durable local storage</a:t>
            </a:r>
          </a:p>
        </p:txBody>
      </p:sp>
      <p:sp>
        <p:nvSpPr>
          <p:cNvPr id="10" name="TextBox 9"/>
          <p:cNvSpPr txBox="1"/>
          <p:nvPr/>
        </p:nvSpPr>
        <p:spPr>
          <a:xfrm>
            <a:off x="749808" y="1920240"/>
            <a:ext cx="3246120" cy="640080"/>
          </a:xfrm>
          <a:prstGeom prst="rect">
            <a:avLst/>
          </a:prstGeom>
          <a:noFill/>
        </p:spPr>
        <p:txBody>
          <a:bodyPr wrap="square" lIns="36576" tIns="18288" rIns="36576" bIns="18288" anchor="t">
            <a:spAutoFit/>
          </a:bodyPr>
          <a:lstStyle/>
          <a:p>
            <a:pPr algn="l">
              <a:spcAft>
                <a:spcPts val="300"/>
              </a:spcAft>
            </a:pPr>
            <a:r>
              <a:rPr sz="1300" b="0" i="0">
                <a:solidFill>
                  <a:srgbClr val="BECDE6"/>
                </a:solidFill>
                <a:latin typeface="Segoe UI"/>
              </a:rPr>
              <a:t>Written to disk before any ACK is sent</a:t>
            </a:r>
          </a:p>
        </p:txBody>
      </p:sp>
      <p:sp>
        <p:nvSpPr>
          <p:cNvPr id="11" name="Rounded Rectangle 10"/>
          <p:cNvSpPr/>
          <p:nvPr/>
        </p:nvSpPr>
        <p:spPr>
          <a:xfrm>
            <a:off x="4297679" y="1417320"/>
            <a:ext cx="3566160" cy="1188720"/>
          </a:xfrm>
          <a:prstGeom prst="roundRect">
            <a:avLst>
              <a:gd name="adj" fmla="val 12000"/>
            </a:avLst>
          </a:prstGeom>
          <a:solidFill>
            <a:srgbClr val="0D1A38">
              <a:alpha val="88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79" y="1581912"/>
            <a:ext cx="64008" cy="859536"/>
          </a:xfrm>
          <a:prstGeom prst="rect">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7" y="1527048"/>
            <a:ext cx="3246120" cy="365760"/>
          </a:xfrm>
          <a:prstGeom prst="rect">
            <a:avLst/>
          </a:prstGeom>
          <a:noFill/>
        </p:spPr>
        <p:txBody>
          <a:bodyPr wrap="square" lIns="36576" tIns="18288" rIns="36576" bIns="18288" anchor="t">
            <a:spAutoFit/>
          </a:bodyPr>
          <a:lstStyle/>
          <a:p>
            <a:pPr algn="l"/>
            <a:r>
              <a:rPr sz="1600" b="1" i="0">
                <a:solidFill>
                  <a:srgbClr val="EAF2FF"/>
                </a:solidFill>
                <a:latin typeface="Segoe UI"/>
              </a:rPr>
              <a:t>Unique report IDs</a:t>
            </a:r>
          </a:p>
        </p:txBody>
      </p:sp>
      <p:sp>
        <p:nvSpPr>
          <p:cNvPr id="14" name="TextBox 13"/>
          <p:cNvSpPr txBox="1"/>
          <p:nvPr/>
        </p:nvSpPr>
        <p:spPr>
          <a:xfrm>
            <a:off x="4498847" y="1920240"/>
            <a:ext cx="3246120" cy="640080"/>
          </a:xfrm>
          <a:prstGeom prst="rect">
            <a:avLst/>
          </a:prstGeom>
          <a:noFill/>
        </p:spPr>
        <p:txBody>
          <a:bodyPr wrap="square" lIns="36576" tIns="18288" rIns="36576" bIns="18288" anchor="t">
            <a:spAutoFit/>
          </a:bodyPr>
          <a:lstStyle/>
          <a:p>
            <a:pPr algn="l">
              <a:spcAft>
                <a:spcPts val="300"/>
              </a:spcAft>
            </a:pPr>
            <a:r>
              <a:rPr sz="1300" b="0" i="0">
                <a:solidFill>
                  <a:srgbClr val="BECDE6"/>
                </a:solidFill>
                <a:latin typeface="Segoe UI"/>
              </a:rPr>
              <a:t>Same ID = same incident everywhere</a:t>
            </a:r>
          </a:p>
        </p:txBody>
      </p:sp>
      <p:sp>
        <p:nvSpPr>
          <p:cNvPr id="15" name="Rounded Rectangle 14"/>
          <p:cNvSpPr/>
          <p:nvPr/>
        </p:nvSpPr>
        <p:spPr>
          <a:xfrm>
            <a:off x="8046719" y="1417320"/>
            <a:ext cx="3566160" cy="1188720"/>
          </a:xfrm>
          <a:prstGeom prst="roundRect">
            <a:avLst>
              <a:gd name="adj" fmla="val 12000"/>
            </a:avLst>
          </a:prstGeom>
          <a:solidFill>
            <a:srgbClr val="0D1A38">
              <a:alpha val="88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19" y="1581912"/>
            <a:ext cx="64008" cy="859536"/>
          </a:xfrm>
          <a:prstGeom prst="rect">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527048"/>
            <a:ext cx="3246120" cy="365760"/>
          </a:xfrm>
          <a:prstGeom prst="rect">
            <a:avLst/>
          </a:prstGeom>
          <a:noFill/>
        </p:spPr>
        <p:txBody>
          <a:bodyPr wrap="square" lIns="36576" tIns="18288" rIns="36576" bIns="18288" anchor="t">
            <a:spAutoFit/>
          </a:bodyPr>
          <a:lstStyle/>
          <a:p>
            <a:pPr algn="l"/>
            <a:r>
              <a:rPr sz="1600" b="1" i="0">
                <a:solidFill>
                  <a:srgbClr val="EAF2FF"/>
                </a:solidFill>
                <a:latin typeface="Segoe UI"/>
              </a:rPr>
              <a:t>Duplicate prevention</a:t>
            </a:r>
          </a:p>
        </p:txBody>
      </p:sp>
      <p:sp>
        <p:nvSpPr>
          <p:cNvPr id="18" name="TextBox 17"/>
          <p:cNvSpPr txBox="1"/>
          <p:nvPr/>
        </p:nvSpPr>
        <p:spPr>
          <a:xfrm>
            <a:off x="8247888" y="1920240"/>
            <a:ext cx="3246120" cy="640080"/>
          </a:xfrm>
          <a:prstGeom prst="rect">
            <a:avLst/>
          </a:prstGeom>
          <a:noFill/>
        </p:spPr>
        <p:txBody>
          <a:bodyPr wrap="square" lIns="36576" tIns="18288" rIns="36576" bIns="18288" anchor="t">
            <a:spAutoFit/>
          </a:bodyPr>
          <a:lstStyle/>
          <a:p>
            <a:pPr algn="l">
              <a:spcAft>
                <a:spcPts val="300"/>
              </a:spcAft>
            </a:pPr>
            <a:r>
              <a:rPr sz="1300" b="0" i="0">
                <a:solidFill>
                  <a:srgbClr val="BECDE6"/>
                </a:solidFill>
                <a:latin typeface="Segoe UI"/>
              </a:rPr>
              <a:t>Retransmissions do not create copies</a:t>
            </a:r>
          </a:p>
        </p:txBody>
      </p:sp>
      <p:sp>
        <p:nvSpPr>
          <p:cNvPr id="19" name="Rounded Rectangle 18"/>
          <p:cNvSpPr/>
          <p:nvPr/>
        </p:nvSpPr>
        <p:spPr>
          <a:xfrm>
            <a:off x="548640" y="2743200"/>
            <a:ext cx="3566160" cy="1188720"/>
          </a:xfrm>
          <a:prstGeom prst="roundRect">
            <a:avLst>
              <a:gd name="adj" fmla="val 12000"/>
            </a:avLst>
          </a:prstGeom>
          <a:solidFill>
            <a:srgbClr val="0D1A38">
              <a:alpha val="88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2907792"/>
            <a:ext cx="64008" cy="859536"/>
          </a:xfrm>
          <a:prstGeom prst="rect">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2852928"/>
            <a:ext cx="3246120" cy="365760"/>
          </a:xfrm>
          <a:prstGeom prst="rect">
            <a:avLst/>
          </a:prstGeom>
          <a:noFill/>
        </p:spPr>
        <p:txBody>
          <a:bodyPr wrap="square" lIns="36576" tIns="18288" rIns="36576" bIns="18288" anchor="t">
            <a:spAutoFit/>
          </a:bodyPr>
          <a:lstStyle/>
          <a:p>
            <a:pPr algn="l"/>
            <a:r>
              <a:rPr sz="1600" b="1" i="0">
                <a:solidFill>
                  <a:srgbClr val="EAF2FF"/>
                </a:solidFill>
                <a:latin typeface="Segoe UI"/>
              </a:rPr>
              <a:t>Acknowledgement states</a:t>
            </a:r>
          </a:p>
        </p:txBody>
      </p:sp>
      <p:sp>
        <p:nvSpPr>
          <p:cNvPr id="22" name="TextBox 21"/>
          <p:cNvSpPr txBox="1"/>
          <p:nvPr/>
        </p:nvSpPr>
        <p:spPr>
          <a:xfrm>
            <a:off x="749808" y="3246120"/>
            <a:ext cx="3246120" cy="640080"/>
          </a:xfrm>
          <a:prstGeom prst="rect">
            <a:avLst/>
          </a:prstGeom>
          <a:noFill/>
        </p:spPr>
        <p:txBody>
          <a:bodyPr wrap="square" lIns="36576" tIns="18288" rIns="36576" bIns="18288" anchor="t">
            <a:spAutoFit/>
          </a:bodyPr>
          <a:lstStyle/>
          <a:p>
            <a:pPr algn="l">
              <a:spcAft>
                <a:spcPts val="300"/>
              </a:spcAft>
            </a:pPr>
            <a:r>
              <a:rPr sz="1300" b="0" i="0">
                <a:solidFill>
                  <a:srgbClr val="BECDE6"/>
                </a:solidFill>
                <a:latin typeface="Segoe UI"/>
              </a:rPr>
              <a:t>Matching ID, session and stage required</a:t>
            </a:r>
          </a:p>
        </p:txBody>
      </p:sp>
      <p:sp>
        <p:nvSpPr>
          <p:cNvPr id="23" name="Rounded Rectangle 22"/>
          <p:cNvSpPr/>
          <p:nvPr/>
        </p:nvSpPr>
        <p:spPr>
          <a:xfrm>
            <a:off x="4297679" y="2743200"/>
            <a:ext cx="3566160" cy="1188720"/>
          </a:xfrm>
          <a:prstGeom prst="roundRect">
            <a:avLst>
              <a:gd name="adj" fmla="val 12000"/>
            </a:avLst>
          </a:prstGeom>
          <a:solidFill>
            <a:srgbClr val="0D1A38">
              <a:alpha val="88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97679" y="2907792"/>
            <a:ext cx="64008" cy="859536"/>
          </a:xfrm>
          <a:prstGeom prst="rect">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98847" y="2852928"/>
            <a:ext cx="3246120" cy="365760"/>
          </a:xfrm>
          <a:prstGeom prst="rect">
            <a:avLst/>
          </a:prstGeom>
          <a:noFill/>
        </p:spPr>
        <p:txBody>
          <a:bodyPr wrap="square" lIns="36576" tIns="18288" rIns="36576" bIns="18288" anchor="t">
            <a:spAutoFit/>
          </a:bodyPr>
          <a:lstStyle/>
          <a:p>
            <a:pPr algn="l"/>
            <a:r>
              <a:rPr sz="1600" b="1" i="0">
                <a:solidFill>
                  <a:srgbClr val="EAF2FF"/>
                </a:solidFill>
                <a:latin typeface="Segoe UI"/>
              </a:rPr>
              <a:t>Pending queues</a:t>
            </a:r>
          </a:p>
        </p:txBody>
      </p:sp>
      <p:sp>
        <p:nvSpPr>
          <p:cNvPr id="26" name="TextBox 25"/>
          <p:cNvSpPr txBox="1"/>
          <p:nvPr/>
        </p:nvSpPr>
        <p:spPr>
          <a:xfrm>
            <a:off x="4498847" y="3246120"/>
            <a:ext cx="3246120" cy="640080"/>
          </a:xfrm>
          <a:prstGeom prst="rect">
            <a:avLst/>
          </a:prstGeom>
          <a:noFill/>
        </p:spPr>
        <p:txBody>
          <a:bodyPr wrap="square" lIns="36576" tIns="18288" rIns="36576" bIns="18288" anchor="t">
            <a:spAutoFit/>
          </a:bodyPr>
          <a:lstStyle/>
          <a:p>
            <a:pPr algn="l">
              <a:spcAft>
                <a:spcPts val="300"/>
              </a:spcAft>
            </a:pPr>
            <a:r>
              <a:rPr sz="1300" b="0" i="0">
                <a:solidFill>
                  <a:srgbClr val="BECDE6"/>
                </a:solidFill>
                <a:latin typeface="Segoe UI"/>
              </a:rPr>
              <a:t>Report waits on the Relay for a link</a:t>
            </a:r>
          </a:p>
        </p:txBody>
      </p:sp>
      <p:sp>
        <p:nvSpPr>
          <p:cNvPr id="27" name="Rounded Rectangle 26"/>
          <p:cNvSpPr/>
          <p:nvPr/>
        </p:nvSpPr>
        <p:spPr>
          <a:xfrm>
            <a:off x="8046719" y="2743200"/>
            <a:ext cx="3566160" cy="1188720"/>
          </a:xfrm>
          <a:prstGeom prst="roundRect">
            <a:avLst>
              <a:gd name="adj" fmla="val 12000"/>
            </a:avLst>
          </a:prstGeom>
          <a:solidFill>
            <a:srgbClr val="0D1A38">
              <a:alpha val="88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19" y="2907792"/>
            <a:ext cx="64008" cy="859536"/>
          </a:xfrm>
          <a:prstGeom prst="rect">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47888" y="2852928"/>
            <a:ext cx="3246120" cy="365760"/>
          </a:xfrm>
          <a:prstGeom prst="rect">
            <a:avLst/>
          </a:prstGeom>
          <a:noFill/>
        </p:spPr>
        <p:txBody>
          <a:bodyPr wrap="square" lIns="36576" tIns="18288" rIns="36576" bIns="18288" anchor="t">
            <a:spAutoFit/>
          </a:bodyPr>
          <a:lstStyle/>
          <a:p>
            <a:pPr algn="l"/>
            <a:r>
              <a:rPr sz="1600" b="1" i="0">
                <a:solidFill>
                  <a:srgbClr val="EAF2FF"/>
                </a:solidFill>
                <a:latin typeface="Segoe UI"/>
              </a:rPr>
              <a:t>Controlled retries</a:t>
            </a:r>
          </a:p>
        </p:txBody>
      </p:sp>
      <p:sp>
        <p:nvSpPr>
          <p:cNvPr id="30" name="TextBox 29"/>
          <p:cNvSpPr txBox="1"/>
          <p:nvPr/>
        </p:nvSpPr>
        <p:spPr>
          <a:xfrm>
            <a:off x="8247888" y="3246120"/>
            <a:ext cx="3246120" cy="640080"/>
          </a:xfrm>
          <a:prstGeom prst="rect">
            <a:avLst/>
          </a:prstGeom>
          <a:noFill/>
        </p:spPr>
        <p:txBody>
          <a:bodyPr wrap="square" lIns="36576" tIns="18288" rIns="36576" bIns="18288" anchor="t">
            <a:spAutoFit/>
          </a:bodyPr>
          <a:lstStyle/>
          <a:p>
            <a:pPr algn="l">
              <a:spcAft>
                <a:spcPts val="300"/>
              </a:spcAft>
            </a:pPr>
            <a:r>
              <a:rPr sz="1300" b="0" i="0">
                <a:solidFill>
                  <a:srgbClr val="BECDE6"/>
                </a:solidFill>
                <a:latin typeface="Segoe UI"/>
              </a:rPr>
              <a:t>Max 3 sends per connection; no auto-dialing</a:t>
            </a:r>
          </a:p>
        </p:txBody>
      </p:sp>
      <p:sp>
        <p:nvSpPr>
          <p:cNvPr id="31" name="TextBox 30"/>
          <p:cNvSpPr txBox="1"/>
          <p:nvPr/>
        </p:nvSpPr>
        <p:spPr>
          <a:xfrm>
            <a:off x="548640" y="4160520"/>
            <a:ext cx="5486400" cy="320040"/>
          </a:xfrm>
          <a:prstGeom prst="rect">
            <a:avLst/>
          </a:prstGeom>
          <a:noFill/>
        </p:spPr>
        <p:txBody>
          <a:bodyPr wrap="square" lIns="36576" tIns="18288" rIns="36576" bIns="18288" anchor="t">
            <a:spAutoFit/>
          </a:bodyPr>
          <a:lstStyle/>
          <a:p>
            <a:pPr algn="l"/>
            <a:r>
              <a:rPr sz="1200" b="1" i="0">
                <a:solidFill>
                  <a:srgbClr val="35E0FF"/>
                </a:solidFill>
                <a:latin typeface="Segoe UI"/>
              </a:rPr>
              <a:t>RELAY DELIVERY STATES</a:t>
            </a:r>
          </a:p>
        </p:txBody>
      </p:sp>
      <p:sp>
        <p:nvSpPr>
          <p:cNvPr id="32" name="Rounded Rectangle 31"/>
          <p:cNvSpPr/>
          <p:nvPr/>
        </p:nvSpPr>
        <p:spPr>
          <a:xfrm>
            <a:off x="548640" y="4498848"/>
            <a:ext cx="2103120" cy="502920"/>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a:solidFill>
                  <a:srgbClr val="FFB020"/>
                </a:solidFill>
                <a:latin typeface="Segoe UI"/>
              </a:rPr>
              <a:t>PENDING FORWARD</a:t>
            </a:r>
          </a:p>
        </p:txBody>
      </p:sp>
      <p:cxnSp>
        <p:nvCxnSpPr>
          <p:cNvPr id="33" name="Connector 32"/>
          <p:cNvCxnSpPr/>
          <p:nvPr/>
        </p:nvCxnSpPr>
        <p:spPr>
          <a:xfrm>
            <a:off x="2670048" y="4754880"/>
            <a:ext cx="292608" cy="0"/>
          </a:xfrm>
          <a:prstGeom prst="line">
            <a:avLst/>
          </a:prstGeom>
          <a:ln w="2794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999232" y="4498848"/>
            <a:ext cx="2743200" cy="502920"/>
          </a:xfrm>
          <a:prstGeom prst="roundRect">
            <a:avLst>
              <a:gd name="adj" fmla="val 50000"/>
            </a:avLst>
          </a:prstGeom>
          <a:solidFill>
            <a:srgbClr val="0E2240">
              <a:alpha val="95000"/>
            </a:srgbClr>
          </a:solidFill>
          <a:ln w="12700">
            <a:solidFill>
              <a:srgbClr val="6EAFFF"/>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a:solidFill>
                  <a:srgbClr val="6EAFFF"/>
                </a:solidFill>
                <a:latin typeface="Segoe UI"/>
              </a:rPr>
              <a:t>FORWARDED  (awaiting ACK)</a:t>
            </a:r>
          </a:p>
        </p:txBody>
      </p:sp>
      <p:cxnSp>
        <p:nvCxnSpPr>
          <p:cNvPr id="35" name="Connector 34"/>
          <p:cNvCxnSpPr/>
          <p:nvPr/>
        </p:nvCxnSpPr>
        <p:spPr>
          <a:xfrm>
            <a:off x="5760719" y="4754880"/>
            <a:ext cx="292608" cy="0"/>
          </a:xfrm>
          <a:prstGeom prst="line">
            <a:avLst/>
          </a:prstGeom>
          <a:ln w="2794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089904" y="4498848"/>
            <a:ext cx="3017520" cy="502920"/>
          </a:xfrm>
          <a:prstGeom prst="roundRect">
            <a:avLst>
              <a:gd name="adj" fmla="val 50000"/>
            </a:avLst>
          </a:prstGeom>
          <a:solidFill>
            <a:srgbClr val="0E3022">
              <a:alpha val="95000"/>
            </a:srgbClr>
          </a:solidFill>
          <a:ln w="12700">
            <a:solidFill>
              <a:srgbClr val="00DF81"/>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a:solidFill>
                  <a:srgbClr val="00DF81"/>
                </a:solidFill>
                <a:latin typeface="Segoe UI"/>
              </a:rPr>
              <a:t>DELIVERED TO COORDINATOR</a:t>
            </a:r>
          </a:p>
        </p:txBody>
      </p:sp>
      <p:sp>
        <p:nvSpPr>
          <p:cNvPr id="37" name="Rounded Rectangle 36"/>
          <p:cNvSpPr/>
          <p:nvPr/>
        </p:nvSpPr>
        <p:spPr>
          <a:xfrm>
            <a:off x="9372600" y="4498848"/>
            <a:ext cx="2286000" cy="502920"/>
          </a:xfrm>
          <a:prstGeom prst="roundRect">
            <a:avLst>
              <a:gd name="adj" fmla="val 50000"/>
            </a:avLst>
          </a:prstGeom>
          <a:solidFill>
            <a:srgbClr val="380E16">
              <a:alpha val="95000"/>
            </a:srgbClr>
          </a:solidFill>
          <a:ln w="12700">
            <a:solidFill>
              <a:srgbClr val="FF828C"/>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150" b="1">
                <a:solidFill>
                  <a:srgbClr val="FF828C"/>
                </a:solidFill>
                <a:latin typeface="Segoe UI"/>
              </a:rPr>
              <a:t>FAILED: stays pending</a:t>
            </a:r>
          </a:p>
        </p:txBody>
      </p:sp>
      <p:sp>
        <p:nvSpPr>
          <p:cNvPr id="38" name="TextBox 37"/>
          <p:cNvSpPr txBox="1"/>
          <p:nvPr/>
        </p:nvSpPr>
        <p:spPr>
          <a:xfrm>
            <a:off x="548640" y="5166360"/>
            <a:ext cx="5486400" cy="320040"/>
          </a:xfrm>
          <a:prstGeom prst="rect">
            <a:avLst/>
          </a:prstGeom>
          <a:noFill/>
        </p:spPr>
        <p:txBody>
          <a:bodyPr wrap="square" lIns="36576" tIns="18288" rIns="36576" bIns="18288" anchor="t">
            <a:spAutoFit/>
          </a:bodyPr>
          <a:lstStyle/>
          <a:p>
            <a:pPr algn="l"/>
            <a:r>
              <a:rPr sz="1200" b="1" i="0">
                <a:solidFill>
                  <a:srgbClr val="35E0FF"/>
                </a:solidFill>
                <a:latin typeface="Segoe UI"/>
              </a:rPr>
              <a:t>SENDER DELIVERY STATES</a:t>
            </a:r>
          </a:p>
        </p:txBody>
      </p:sp>
      <p:sp>
        <p:nvSpPr>
          <p:cNvPr id="39" name="Rounded Rectangle 38"/>
          <p:cNvSpPr/>
          <p:nvPr/>
        </p:nvSpPr>
        <p:spPr>
          <a:xfrm>
            <a:off x="548640" y="5504688"/>
            <a:ext cx="1737360" cy="457200"/>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FFB020"/>
                </a:solidFill>
                <a:latin typeface="Segoe UI"/>
              </a:rPr>
              <a:t>PENDING</a:t>
            </a:r>
          </a:p>
        </p:txBody>
      </p:sp>
      <p:cxnSp>
        <p:nvCxnSpPr>
          <p:cNvPr id="40" name="Connector 39"/>
          <p:cNvCxnSpPr/>
          <p:nvPr/>
        </p:nvCxnSpPr>
        <p:spPr>
          <a:xfrm>
            <a:off x="2304288" y="5733288"/>
            <a:ext cx="256032" cy="0"/>
          </a:xfrm>
          <a:prstGeom prst="line">
            <a:avLst/>
          </a:prstGeom>
          <a:ln w="2794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2596896" y="5504688"/>
            <a:ext cx="2194560" cy="457200"/>
          </a:xfrm>
          <a:prstGeom prst="roundRect">
            <a:avLst>
              <a:gd name="adj" fmla="val 50000"/>
            </a:avLst>
          </a:prstGeom>
          <a:solidFill>
            <a:srgbClr val="0E2240">
              <a:alpha val="95000"/>
            </a:srgbClr>
          </a:solidFill>
          <a:ln w="12700">
            <a:solidFill>
              <a:srgbClr val="6EAFFF"/>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6EAFFF"/>
                </a:solidFill>
                <a:latin typeface="Segoe UI"/>
              </a:rPr>
              <a:t>TRANSMITTED</a:t>
            </a:r>
          </a:p>
        </p:txBody>
      </p:sp>
      <p:cxnSp>
        <p:nvCxnSpPr>
          <p:cNvPr id="42" name="Connector 41"/>
          <p:cNvCxnSpPr/>
          <p:nvPr/>
        </p:nvCxnSpPr>
        <p:spPr>
          <a:xfrm>
            <a:off x="4809744" y="5733288"/>
            <a:ext cx="256032" cy="0"/>
          </a:xfrm>
          <a:prstGeom prst="line">
            <a:avLst/>
          </a:prstGeom>
          <a:ln w="2794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5102352" y="5504688"/>
            <a:ext cx="2468880" cy="457200"/>
          </a:xfrm>
          <a:prstGeom prst="roundRect">
            <a:avLst>
              <a:gd name="adj" fmla="val 50000"/>
            </a:avLst>
          </a:prstGeom>
          <a:solidFill>
            <a:srgbClr val="0E3022">
              <a:alpha val="95000"/>
            </a:srgbClr>
          </a:solidFill>
          <a:ln w="12700">
            <a:solidFill>
              <a:srgbClr val="00DF81"/>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00DF81"/>
                </a:solidFill>
                <a:latin typeface="Segoe UI"/>
              </a:rPr>
              <a:t>ACKED BY RELAY</a:t>
            </a:r>
          </a:p>
        </p:txBody>
      </p:sp>
      <p:cxnSp>
        <p:nvCxnSpPr>
          <p:cNvPr id="44" name="Connector 43"/>
          <p:cNvCxnSpPr/>
          <p:nvPr/>
        </p:nvCxnSpPr>
        <p:spPr>
          <a:xfrm>
            <a:off x="7589520" y="5733288"/>
            <a:ext cx="256032" cy="0"/>
          </a:xfrm>
          <a:prstGeom prst="line">
            <a:avLst/>
          </a:prstGeom>
          <a:ln w="2794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882128" y="5504688"/>
            <a:ext cx="2926080" cy="457200"/>
          </a:xfrm>
          <a:prstGeom prst="roundRect">
            <a:avLst>
              <a:gd name="adj" fmla="val 50000"/>
            </a:avLst>
          </a:prstGeom>
          <a:solidFill>
            <a:srgbClr val="0E3022">
              <a:alpha val="95000"/>
            </a:srgbClr>
          </a:solidFill>
          <a:ln w="12700">
            <a:solidFill>
              <a:srgbClr val="00DF81"/>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00DF81"/>
                </a:solidFill>
                <a:latin typeface="Segoe UI"/>
              </a:rPr>
              <a:t>ACKED BY COORDINATOR</a:t>
            </a:r>
          </a:p>
        </p:txBody>
      </p:sp>
      <p:sp>
        <p:nvSpPr>
          <p:cNvPr id="46" name="TextBox 45"/>
          <p:cNvSpPr txBox="1"/>
          <p:nvPr/>
        </p:nvSpPr>
        <p:spPr>
          <a:xfrm>
            <a:off x="548640" y="6053328"/>
            <a:ext cx="10972800" cy="320040"/>
          </a:xfrm>
          <a:prstGeom prst="rect">
            <a:avLst/>
          </a:prstGeom>
          <a:noFill/>
        </p:spPr>
        <p:txBody>
          <a:bodyPr wrap="square" lIns="36576" tIns="18288" rIns="36576" bIns="18288" anchor="t">
            <a:spAutoFit/>
          </a:bodyPr>
          <a:lstStyle/>
          <a:p>
            <a:pPr algn="l"/>
            <a:r>
              <a:rPr sz="1300" b="0" i="1">
                <a:solidFill>
                  <a:srgbClr val="BECDE6"/>
                </a:solidFill>
                <a:latin typeface="Segoe UI"/>
              </a:rPr>
              <a:t>Socket connected or write returned is never treated as proof of delivery.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b.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OFFLINE-FIRST ENGINEERING</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Everything the demo needs runs on the phone</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7</a:t>
            </a:r>
          </a:p>
        </p:txBody>
      </p:sp>
      <p:sp>
        <p:nvSpPr>
          <p:cNvPr id="7" name="Rounded Rectangle 6"/>
          <p:cNvSpPr/>
          <p:nvPr/>
        </p:nvSpPr>
        <p:spPr>
          <a:xfrm>
            <a:off x="548640" y="1508760"/>
            <a:ext cx="2103120" cy="205740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31520" y="1691640"/>
            <a:ext cx="109728" cy="109728"/>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874519"/>
            <a:ext cx="1874519" cy="731520"/>
          </a:xfrm>
          <a:prstGeom prst="rect">
            <a:avLst/>
          </a:prstGeom>
          <a:noFill/>
        </p:spPr>
        <p:txBody>
          <a:bodyPr wrap="square" lIns="36576" tIns="18288" rIns="36576" bIns="18288" anchor="t">
            <a:spAutoFit/>
          </a:bodyPr>
          <a:lstStyle/>
          <a:p>
            <a:pPr algn="l"/>
            <a:r>
              <a:rPr sz="1600" b="1" i="0">
                <a:solidFill>
                  <a:srgbClr val="EAF2FF"/>
                </a:solidFill>
                <a:latin typeface="Segoe UI"/>
              </a:rPr>
              <a:t>Bluetooth Classic</a:t>
            </a:r>
          </a:p>
        </p:txBody>
      </p:sp>
      <p:sp>
        <p:nvSpPr>
          <p:cNvPr id="10" name="TextBox 9"/>
          <p:cNvSpPr txBox="1"/>
          <p:nvPr/>
        </p:nvSpPr>
        <p:spPr>
          <a:xfrm>
            <a:off x="685800" y="2606040"/>
            <a:ext cx="1874519" cy="1143000"/>
          </a:xfrm>
          <a:prstGeom prst="rect">
            <a:avLst/>
          </a:prstGeom>
          <a:noFill/>
        </p:spPr>
        <p:txBody>
          <a:bodyPr wrap="square" lIns="36576" tIns="18288" rIns="36576" bIns="18288" anchor="t">
            <a:spAutoFit/>
          </a:bodyPr>
          <a:lstStyle/>
          <a:p>
            <a:pPr algn="l"/>
            <a:r>
              <a:rPr sz="1250" b="0" i="0">
                <a:solidFill>
                  <a:srgbClr val="BECDE6"/>
                </a:solidFill>
                <a:latin typeface="Segoe UI"/>
              </a:rPr>
              <a:t>RFCOMM link between nearby phones</a:t>
            </a:r>
          </a:p>
        </p:txBody>
      </p:sp>
      <p:sp>
        <p:nvSpPr>
          <p:cNvPr id="11" name="Rounded Rectangle 10"/>
          <p:cNvSpPr/>
          <p:nvPr/>
        </p:nvSpPr>
        <p:spPr>
          <a:xfrm>
            <a:off x="2788920" y="1508760"/>
            <a:ext cx="2103120" cy="205740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971800" y="1691640"/>
            <a:ext cx="109728" cy="109728"/>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1874519"/>
            <a:ext cx="1874519" cy="731520"/>
          </a:xfrm>
          <a:prstGeom prst="rect">
            <a:avLst/>
          </a:prstGeom>
          <a:noFill/>
        </p:spPr>
        <p:txBody>
          <a:bodyPr wrap="square" lIns="36576" tIns="18288" rIns="36576" bIns="18288" anchor="t">
            <a:spAutoFit/>
          </a:bodyPr>
          <a:lstStyle/>
          <a:p>
            <a:pPr algn="l"/>
            <a:r>
              <a:rPr sz="1600" b="1" i="0">
                <a:solidFill>
                  <a:srgbClr val="EAF2FF"/>
                </a:solidFill>
                <a:latin typeface="Segoe UI"/>
              </a:rPr>
              <a:t>On-device storage</a:t>
            </a:r>
          </a:p>
        </p:txBody>
      </p:sp>
      <p:sp>
        <p:nvSpPr>
          <p:cNvPr id="14" name="TextBox 13"/>
          <p:cNvSpPr txBox="1"/>
          <p:nvPr/>
        </p:nvSpPr>
        <p:spPr>
          <a:xfrm>
            <a:off x="2926080" y="2606040"/>
            <a:ext cx="1874519" cy="1143000"/>
          </a:xfrm>
          <a:prstGeom prst="rect">
            <a:avLst/>
          </a:prstGeom>
          <a:noFill/>
        </p:spPr>
        <p:txBody>
          <a:bodyPr wrap="square" lIns="36576" tIns="18288" rIns="36576" bIns="18288" anchor="t">
            <a:spAutoFit/>
          </a:bodyPr>
          <a:lstStyle/>
          <a:p>
            <a:pPr algn="l"/>
            <a:r>
              <a:rPr sz="1250" b="0" i="0">
                <a:solidFill>
                  <a:srgbClr val="BECDE6"/>
                </a:solidFill>
                <a:latin typeface="Segoe UI"/>
              </a:rPr>
              <a:t>Atomic JSON files for every report</a:t>
            </a:r>
          </a:p>
        </p:txBody>
      </p:sp>
      <p:sp>
        <p:nvSpPr>
          <p:cNvPr id="15" name="Rounded Rectangle 14"/>
          <p:cNvSpPr/>
          <p:nvPr/>
        </p:nvSpPr>
        <p:spPr>
          <a:xfrm>
            <a:off x="5029200" y="1508760"/>
            <a:ext cx="2103120" cy="205740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212080" y="1691640"/>
            <a:ext cx="109728" cy="109728"/>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66360" y="1874519"/>
            <a:ext cx="1874519" cy="731520"/>
          </a:xfrm>
          <a:prstGeom prst="rect">
            <a:avLst/>
          </a:prstGeom>
          <a:noFill/>
        </p:spPr>
        <p:txBody>
          <a:bodyPr wrap="square" lIns="36576" tIns="18288" rIns="36576" bIns="18288" anchor="t">
            <a:spAutoFit/>
          </a:bodyPr>
          <a:lstStyle/>
          <a:p>
            <a:pPr algn="l"/>
            <a:r>
              <a:rPr sz="1600" b="1" i="0">
                <a:solidFill>
                  <a:srgbClr val="EAF2FF"/>
                </a:solidFill>
                <a:latin typeface="Segoe UI"/>
              </a:rPr>
              <a:t>Offline voice</a:t>
            </a:r>
          </a:p>
        </p:txBody>
      </p:sp>
      <p:sp>
        <p:nvSpPr>
          <p:cNvPr id="18" name="TextBox 17"/>
          <p:cNvSpPr txBox="1"/>
          <p:nvPr/>
        </p:nvSpPr>
        <p:spPr>
          <a:xfrm>
            <a:off x="5166360" y="2606040"/>
            <a:ext cx="1874519" cy="1143000"/>
          </a:xfrm>
          <a:prstGeom prst="rect">
            <a:avLst/>
          </a:prstGeom>
          <a:noFill/>
        </p:spPr>
        <p:txBody>
          <a:bodyPr wrap="square" lIns="36576" tIns="18288" rIns="36576" bIns="18288" anchor="t">
            <a:spAutoFit/>
          </a:bodyPr>
          <a:lstStyle/>
          <a:p>
            <a:pPr algn="l"/>
            <a:r>
              <a:rPr sz="1250" b="0" i="0">
                <a:solidFill>
                  <a:srgbClr val="BECDE6"/>
                </a:solidFill>
                <a:latin typeface="Segoe UI"/>
              </a:rPr>
              <a:t>Vosk speech model bundled in the app</a:t>
            </a:r>
          </a:p>
        </p:txBody>
      </p:sp>
      <p:sp>
        <p:nvSpPr>
          <p:cNvPr id="19" name="Rounded Rectangle 18"/>
          <p:cNvSpPr/>
          <p:nvPr/>
        </p:nvSpPr>
        <p:spPr>
          <a:xfrm>
            <a:off x="7269480" y="1508760"/>
            <a:ext cx="2103120" cy="205740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452360" y="1691640"/>
            <a:ext cx="109728" cy="109728"/>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0" y="1874519"/>
            <a:ext cx="1874519" cy="731520"/>
          </a:xfrm>
          <a:prstGeom prst="rect">
            <a:avLst/>
          </a:prstGeom>
          <a:noFill/>
        </p:spPr>
        <p:txBody>
          <a:bodyPr wrap="square" lIns="36576" tIns="18288" rIns="36576" bIns="18288" anchor="t">
            <a:spAutoFit/>
          </a:bodyPr>
          <a:lstStyle/>
          <a:p>
            <a:pPr algn="l"/>
            <a:r>
              <a:rPr sz="1600" b="1" i="0">
                <a:solidFill>
                  <a:srgbClr val="EAF2FF"/>
                </a:solidFill>
                <a:latin typeface="Segoe UI"/>
              </a:rPr>
              <a:t>Local AI assist</a:t>
            </a:r>
          </a:p>
        </p:txBody>
      </p:sp>
      <p:sp>
        <p:nvSpPr>
          <p:cNvPr id="22" name="TextBox 21"/>
          <p:cNvSpPr txBox="1"/>
          <p:nvPr/>
        </p:nvSpPr>
        <p:spPr>
          <a:xfrm>
            <a:off x="7406640" y="2606040"/>
            <a:ext cx="1874519" cy="1143000"/>
          </a:xfrm>
          <a:prstGeom prst="rect">
            <a:avLst/>
          </a:prstGeom>
          <a:noFill/>
        </p:spPr>
        <p:txBody>
          <a:bodyPr wrap="square" lIns="36576" tIns="18288" rIns="36576" bIns="18288" anchor="t">
            <a:spAutoFit/>
          </a:bodyPr>
          <a:lstStyle/>
          <a:p>
            <a:pPr algn="l"/>
            <a:r>
              <a:rPr sz="1250" b="0" i="0">
                <a:solidFill>
                  <a:srgbClr val="BECDE6"/>
                </a:solidFill>
                <a:latin typeface="Segoe UI"/>
              </a:rPr>
              <a:t>Qwen2.5-0.5B via llama.cpp; model file side-loaded</a:t>
            </a:r>
          </a:p>
        </p:txBody>
      </p:sp>
      <p:sp>
        <p:nvSpPr>
          <p:cNvPr id="23" name="Rounded Rectangle 22"/>
          <p:cNvSpPr/>
          <p:nvPr/>
        </p:nvSpPr>
        <p:spPr>
          <a:xfrm>
            <a:off x="9509760" y="1508760"/>
            <a:ext cx="2103120" cy="205740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692640" y="1691640"/>
            <a:ext cx="109728" cy="109728"/>
          </a:xfrm>
          <a:prstGeom prst="ellipse">
            <a:avLst/>
          </a:prstGeom>
          <a:solidFill>
            <a:srgbClr val="35E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46920" y="1874519"/>
            <a:ext cx="1874519" cy="731520"/>
          </a:xfrm>
          <a:prstGeom prst="rect">
            <a:avLst/>
          </a:prstGeom>
          <a:noFill/>
        </p:spPr>
        <p:txBody>
          <a:bodyPr wrap="square" lIns="36576" tIns="18288" rIns="36576" bIns="18288" anchor="t">
            <a:spAutoFit/>
          </a:bodyPr>
          <a:lstStyle/>
          <a:p>
            <a:pPr algn="l"/>
            <a:r>
              <a:rPr sz="1600" b="1" i="0">
                <a:solidFill>
                  <a:srgbClr val="EAF2FF"/>
                </a:solidFill>
                <a:latin typeface="Segoe UI"/>
              </a:rPr>
              <a:t>Offline maps</a:t>
            </a:r>
          </a:p>
        </p:txBody>
      </p:sp>
      <p:sp>
        <p:nvSpPr>
          <p:cNvPr id="26" name="TextBox 25"/>
          <p:cNvSpPr txBox="1"/>
          <p:nvPr/>
        </p:nvSpPr>
        <p:spPr>
          <a:xfrm>
            <a:off x="9646920" y="2606040"/>
            <a:ext cx="1874519" cy="1143000"/>
          </a:xfrm>
          <a:prstGeom prst="rect">
            <a:avLst/>
          </a:prstGeom>
          <a:noFill/>
        </p:spPr>
        <p:txBody>
          <a:bodyPr wrap="square" lIns="36576" tIns="18288" rIns="36576" bIns="18288" anchor="t">
            <a:spAutoFit/>
          </a:bodyPr>
          <a:lstStyle/>
          <a:p>
            <a:pPr algn="l"/>
            <a:r>
              <a:rPr sz="1250" b="0" i="0">
                <a:solidFill>
                  <a:srgbClr val="BECDE6"/>
                </a:solidFill>
                <a:latin typeface="Segoe UI"/>
              </a:rPr>
              <a:t>Mapsforge vector map file loaded on the device</a:t>
            </a:r>
          </a:p>
        </p:txBody>
      </p:sp>
      <p:sp>
        <p:nvSpPr>
          <p:cNvPr id="27" name="Rounded Rectangle 26"/>
          <p:cNvSpPr/>
          <p:nvPr/>
        </p:nvSpPr>
        <p:spPr>
          <a:xfrm>
            <a:off x="548640" y="3840480"/>
            <a:ext cx="5486400" cy="1325880"/>
          </a:xfrm>
          <a:prstGeom prst="roundRect">
            <a:avLst>
              <a:gd name="adj" fmla="val 12000"/>
            </a:avLst>
          </a:prstGeom>
          <a:solidFill>
            <a:srgbClr val="082824">
              <a:alpha val="90000"/>
            </a:srgbClr>
          </a:solidFill>
          <a:ln w="15875">
            <a:solidFill>
              <a:srgbClr val="00DF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3931920"/>
            <a:ext cx="5120640" cy="365760"/>
          </a:xfrm>
          <a:prstGeom prst="rect">
            <a:avLst/>
          </a:prstGeom>
          <a:noFill/>
        </p:spPr>
        <p:txBody>
          <a:bodyPr wrap="square" lIns="36576" tIns="18288" rIns="36576" bIns="18288" anchor="t">
            <a:spAutoFit/>
          </a:bodyPr>
          <a:lstStyle/>
          <a:p>
            <a:pPr algn="l"/>
            <a:r>
              <a:rPr sz="1900" b="1" i="0">
                <a:solidFill>
                  <a:srgbClr val="00DF81"/>
                </a:solidFill>
                <a:latin typeface="Segoe UI"/>
              </a:rPr>
              <a:t>No INTERNET permission</a:t>
            </a:r>
          </a:p>
        </p:txBody>
      </p:sp>
      <p:sp>
        <p:nvSpPr>
          <p:cNvPr id="29" name="TextBox 28"/>
          <p:cNvSpPr txBox="1"/>
          <p:nvPr/>
        </p:nvSpPr>
        <p:spPr>
          <a:xfrm>
            <a:off x="777240" y="4389120"/>
            <a:ext cx="5120640" cy="731520"/>
          </a:xfrm>
          <a:prstGeom prst="rect">
            <a:avLst/>
          </a:prstGeom>
          <a:noFill/>
        </p:spPr>
        <p:txBody>
          <a:bodyPr wrap="square" lIns="36576" tIns="18288" rIns="36576" bIns="18288" anchor="t">
            <a:spAutoFit/>
          </a:bodyPr>
          <a:lstStyle/>
          <a:p>
            <a:pPr algn="l"/>
            <a:r>
              <a:rPr sz="1300" b="0" i="0">
                <a:solidFill>
                  <a:srgbClr val="BEE6D7"/>
                </a:solidFill>
                <a:latin typeface="Segoe UI"/>
              </a:rPr>
              <a:t>Verified in the merged debug and release Android manifests. No cloud, analytics or telemetry dependency.</a:t>
            </a:r>
          </a:p>
        </p:txBody>
      </p:sp>
      <p:sp>
        <p:nvSpPr>
          <p:cNvPr id="30" name="Rounded Rectangle 29"/>
          <p:cNvSpPr/>
          <p:nvPr/>
        </p:nvSpPr>
        <p:spPr>
          <a:xfrm>
            <a:off x="6263640" y="3840480"/>
            <a:ext cx="5394960" cy="1325880"/>
          </a:xfrm>
          <a:prstGeom prst="roundRect">
            <a:avLst>
              <a:gd name="adj" fmla="val 12000"/>
            </a:avLst>
          </a:prstGeom>
          <a:solidFill>
            <a:srgbClr val="34260A">
              <a:alpha val="90000"/>
            </a:srgbClr>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92240" y="3931920"/>
            <a:ext cx="5029200" cy="365760"/>
          </a:xfrm>
          <a:prstGeom prst="rect">
            <a:avLst/>
          </a:prstGeom>
          <a:noFill/>
        </p:spPr>
        <p:txBody>
          <a:bodyPr wrap="square" lIns="36576" tIns="18288" rIns="36576" bIns="18288" anchor="t">
            <a:spAutoFit/>
          </a:bodyPr>
          <a:lstStyle/>
          <a:p>
            <a:pPr algn="l"/>
            <a:r>
              <a:rPr sz="1900" b="1" i="0">
                <a:solidFill>
                  <a:srgbClr val="FFB020"/>
                </a:solidFill>
                <a:latin typeface="Segoe UI"/>
              </a:rPr>
              <a:t>What this does not claim</a:t>
            </a:r>
          </a:p>
        </p:txBody>
      </p:sp>
      <p:sp>
        <p:nvSpPr>
          <p:cNvPr id="32" name="TextBox 31"/>
          <p:cNvSpPr txBox="1"/>
          <p:nvPr/>
        </p:nvSpPr>
        <p:spPr>
          <a:xfrm>
            <a:off x="6492240" y="4389120"/>
            <a:ext cx="5029200" cy="731520"/>
          </a:xfrm>
          <a:prstGeom prst="rect">
            <a:avLst/>
          </a:prstGeom>
          <a:noFill/>
        </p:spPr>
        <p:txBody>
          <a:bodyPr wrap="square" lIns="36576" tIns="18288" rIns="36576" bIns="18288" anchor="t">
            <a:spAutoFit/>
          </a:bodyPr>
          <a:lstStyle/>
          <a:p>
            <a:pPr algn="l"/>
            <a:r>
              <a:rPr sz="1300" b="0" i="0">
                <a:solidFill>
                  <a:srgbClr val="F5E1B4"/>
                </a:solidFill>
                <a:latin typeface="Segoe UI"/>
              </a:rPr>
              <a:t>Bluetooth pairing is not app-level authentication, and Sethu adds no encryption of its own yet.</a:t>
            </a:r>
          </a:p>
        </p:txBody>
      </p:sp>
      <p:sp>
        <p:nvSpPr>
          <p:cNvPr id="33" name="TextBox 32"/>
          <p:cNvSpPr txBox="1"/>
          <p:nvPr/>
        </p:nvSpPr>
        <p:spPr>
          <a:xfrm>
            <a:off x="548640" y="5440680"/>
            <a:ext cx="10972800" cy="548640"/>
          </a:xfrm>
          <a:prstGeom prst="rect">
            <a:avLst/>
          </a:prstGeom>
          <a:noFill/>
        </p:spPr>
        <p:txBody>
          <a:bodyPr wrap="square" lIns="36576" tIns="18288" rIns="36576" bIns="18288" anchor="t">
            <a:spAutoFit/>
          </a:bodyPr>
          <a:lstStyle/>
          <a:p>
            <a:pPr algn="l"/>
            <a:r>
              <a:rPr sz="1400" b="0" i="1">
                <a:solidFill>
                  <a:srgbClr val="BECDE6"/>
                </a:solidFill>
                <a:latin typeface="Segoe UI"/>
              </a:rPr>
              <a:t>Offline-first for the intended demo workflow; this is not a security guarantee.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INTELLIGENT EMERGENCY COORDINATION</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Explainable priority, not a black box</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8</a:t>
            </a:r>
          </a:p>
        </p:txBody>
      </p:sp>
      <p:sp>
        <p:nvSpPr>
          <p:cNvPr id="7" name="TextBox 6"/>
          <p:cNvSpPr txBox="1"/>
          <p:nvPr/>
        </p:nvSpPr>
        <p:spPr>
          <a:xfrm>
            <a:off x="548640" y="1371600"/>
            <a:ext cx="5669280" cy="320040"/>
          </a:xfrm>
          <a:prstGeom prst="rect">
            <a:avLst/>
          </a:prstGeom>
          <a:noFill/>
        </p:spPr>
        <p:txBody>
          <a:bodyPr wrap="square" lIns="36576" tIns="18288" rIns="36576" bIns="18288" anchor="t">
            <a:spAutoFit/>
          </a:bodyPr>
          <a:lstStyle/>
          <a:p>
            <a:pPr algn="l"/>
            <a:r>
              <a:rPr sz="1200" b="1" i="0">
                <a:solidFill>
                  <a:srgbClr val="35E0FF"/>
                </a:solidFill>
                <a:latin typeface="Segoe UI"/>
              </a:rPr>
              <a:t>RULE-BASED PRIORITY ENGINE</a:t>
            </a:r>
          </a:p>
        </p:txBody>
      </p:sp>
      <p:sp>
        <p:nvSpPr>
          <p:cNvPr id="8" name="Rounded Rectangle 7"/>
          <p:cNvSpPr/>
          <p:nvPr/>
        </p:nvSpPr>
        <p:spPr>
          <a:xfrm>
            <a:off x="548640" y="1783080"/>
            <a:ext cx="1554480" cy="548640"/>
          </a:xfrm>
          <a:prstGeom prst="roundRect">
            <a:avLst>
              <a:gd name="adj" fmla="val 50000"/>
            </a:avLst>
          </a:prstGeom>
          <a:solidFill>
            <a:srgbClr val="3C0C14">
              <a:alpha val="95000"/>
            </a:srgbClr>
          </a:solidFill>
          <a:ln w="12700">
            <a:solidFill>
              <a:srgbClr val="FF3B4E"/>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FF3B4E"/>
                </a:solidFill>
                <a:latin typeface="Segoe UI"/>
              </a:rPr>
              <a:t>CRITICAL</a:t>
            </a:r>
          </a:p>
        </p:txBody>
      </p:sp>
      <p:sp>
        <p:nvSpPr>
          <p:cNvPr id="9" name="TextBox 8"/>
          <p:cNvSpPr txBox="1"/>
          <p:nvPr/>
        </p:nvSpPr>
        <p:spPr>
          <a:xfrm>
            <a:off x="2286000" y="1828800"/>
            <a:ext cx="4023360" cy="502920"/>
          </a:xfrm>
          <a:prstGeom prst="rect">
            <a:avLst/>
          </a:prstGeom>
          <a:noFill/>
        </p:spPr>
        <p:txBody>
          <a:bodyPr wrap="square" lIns="36576" tIns="18288" rIns="36576" bIns="18288" anchor="ctr">
            <a:spAutoFit/>
          </a:bodyPr>
          <a:lstStyle/>
          <a:p>
            <a:pPr algn="l"/>
            <a:r>
              <a:rPr sz="1400" b="0" i="0">
                <a:solidFill>
                  <a:srgbClr val="CDDAF0"/>
                </a:solidFill>
                <a:latin typeface="Segoe UI"/>
              </a:rPr>
              <a:t>Explicit life-threatening wording</a:t>
            </a:r>
          </a:p>
        </p:txBody>
      </p:sp>
      <p:sp>
        <p:nvSpPr>
          <p:cNvPr id="10" name="Rounded Rectangle 9"/>
          <p:cNvSpPr/>
          <p:nvPr/>
        </p:nvSpPr>
        <p:spPr>
          <a:xfrm>
            <a:off x="548640" y="2651760"/>
            <a:ext cx="1554480" cy="548640"/>
          </a:xfrm>
          <a:prstGeom prst="roundRect">
            <a:avLst>
              <a:gd name="adj" fmla="val 50000"/>
            </a:avLst>
          </a:prstGeom>
          <a:solidFill>
            <a:srgbClr val="3C2808">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FFB020"/>
                </a:solidFill>
                <a:latin typeface="Segoe UI"/>
              </a:rPr>
              <a:t>HIGH</a:t>
            </a:r>
          </a:p>
        </p:txBody>
      </p:sp>
      <p:sp>
        <p:nvSpPr>
          <p:cNvPr id="11" name="TextBox 10"/>
          <p:cNvSpPr txBox="1"/>
          <p:nvPr/>
        </p:nvSpPr>
        <p:spPr>
          <a:xfrm>
            <a:off x="2286000" y="2697479"/>
            <a:ext cx="4023360" cy="502920"/>
          </a:xfrm>
          <a:prstGeom prst="rect">
            <a:avLst/>
          </a:prstGeom>
          <a:noFill/>
        </p:spPr>
        <p:txBody>
          <a:bodyPr wrap="square" lIns="36576" tIns="18288" rIns="36576" bIns="18288" anchor="ctr">
            <a:spAutoFit/>
          </a:bodyPr>
          <a:lstStyle/>
          <a:p>
            <a:pPr algn="l"/>
            <a:r>
              <a:rPr sz="1400" b="0" i="0">
                <a:solidFill>
                  <a:srgbClr val="CDDAF0"/>
                </a:solidFill>
                <a:latin typeface="Segoe UI"/>
              </a:rPr>
              <a:t>Trapped, serious injury, fire, urgent medical</a:t>
            </a:r>
          </a:p>
        </p:txBody>
      </p:sp>
      <p:sp>
        <p:nvSpPr>
          <p:cNvPr id="12" name="Rounded Rectangle 11"/>
          <p:cNvSpPr/>
          <p:nvPr/>
        </p:nvSpPr>
        <p:spPr>
          <a:xfrm>
            <a:off x="548640" y="3520439"/>
            <a:ext cx="1554480" cy="548640"/>
          </a:xfrm>
          <a:prstGeom prst="roundRect">
            <a:avLst>
              <a:gd name="adj" fmla="val 50000"/>
            </a:avLst>
          </a:prstGeom>
          <a:solidFill>
            <a:srgbClr val="0E2240">
              <a:alpha val="95000"/>
            </a:srgbClr>
          </a:solidFill>
          <a:ln w="12700">
            <a:solidFill>
              <a:srgbClr val="6EAFFF"/>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6EAFFF"/>
                </a:solidFill>
                <a:latin typeface="Segoe UI"/>
              </a:rPr>
              <a:t>MEDIUM</a:t>
            </a:r>
          </a:p>
        </p:txBody>
      </p:sp>
      <p:sp>
        <p:nvSpPr>
          <p:cNvPr id="13" name="TextBox 12"/>
          <p:cNvSpPr txBox="1"/>
          <p:nvPr/>
        </p:nvSpPr>
        <p:spPr>
          <a:xfrm>
            <a:off x="2286000" y="3566159"/>
            <a:ext cx="4023360" cy="502920"/>
          </a:xfrm>
          <a:prstGeom prst="rect">
            <a:avLst/>
          </a:prstGeom>
          <a:noFill/>
        </p:spPr>
        <p:txBody>
          <a:bodyPr wrap="square" lIns="36576" tIns="18288" rIns="36576" bIns="18288" anchor="ctr">
            <a:spAutoFit/>
          </a:bodyPr>
          <a:lstStyle/>
          <a:p>
            <a:pPr algn="l"/>
            <a:r>
              <a:rPr sz="1400" b="0" i="0">
                <a:solidFill>
                  <a:srgbClr val="CDDAF0"/>
                </a:solidFill>
                <a:latin typeface="Segoe UI"/>
              </a:rPr>
              <a:t>Needs help, no life-threat evidence</a:t>
            </a:r>
          </a:p>
        </p:txBody>
      </p:sp>
      <p:sp>
        <p:nvSpPr>
          <p:cNvPr id="14" name="Rounded Rectangle 13"/>
          <p:cNvSpPr/>
          <p:nvPr/>
        </p:nvSpPr>
        <p:spPr>
          <a:xfrm>
            <a:off x="548640" y="4389120"/>
            <a:ext cx="1554480" cy="548640"/>
          </a:xfrm>
          <a:prstGeom prst="roundRect">
            <a:avLst>
              <a:gd name="adj" fmla="val 50000"/>
            </a:avLst>
          </a:prstGeom>
          <a:solidFill>
            <a:srgbClr val="1C2438">
              <a:alpha val="95000"/>
            </a:srgbClr>
          </a:solidFill>
          <a:ln w="12700">
            <a:solidFill>
              <a:srgbClr val="96A8C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96A8C4"/>
                </a:solidFill>
                <a:latin typeface="Segoe UI"/>
              </a:rPr>
              <a:t>UNKNOWN</a:t>
            </a:r>
          </a:p>
        </p:txBody>
      </p:sp>
      <p:sp>
        <p:nvSpPr>
          <p:cNvPr id="15" name="TextBox 14"/>
          <p:cNvSpPr txBox="1"/>
          <p:nvPr/>
        </p:nvSpPr>
        <p:spPr>
          <a:xfrm>
            <a:off x="2286000" y="4434840"/>
            <a:ext cx="4023360" cy="502920"/>
          </a:xfrm>
          <a:prstGeom prst="rect">
            <a:avLst/>
          </a:prstGeom>
          <a:noFill/>
        </p:spPr>
        <p:txBody>
          <a:bodyPr wrap="square" lIns="36576" tIns="18288" rIns="36576" bIns="18288" anchor="ctr">
            <a:spAutoFit/>
          </a:bodyPr>
          <a:lstStyle/>
          <a:p>
            <a:pPr algn="l"/>
            <a:r>
              <a:rPr sz="1400" b="0" i="0">
                <a:solidFill>
                  <a:srgbClr val="CDDAF0"/>
                </a:solidFill>
                <a:latin typeface="Segoe UI"/>
              </a:rPr>
              <a:t>Too little information to classify</a:t>
            </a:r>
          </a:p>
        </p:txBody>
      </p:sp>
      <p:sp>
        <p:nvSpPr>
          <p:cNvPr id="16" name="TextBox 15"/>
          <p:cNvSpPr txBox="1"/>
          <p:nvPr/>
        </p:nvSpPr>
        <p:spPr>
          <a:xfrm>
            <a:off x="548640" y="5349240"/>
            <a:ext cx="5760720" cy="822960"/>
          </a:xfrm>
          <a:prstGeom prst="rect">
            <a:avLst/>
          </a:prstGeom>
          <a:noFill/>
        </p:spPr>
        <p:txBody>
          <a:bodyPr wrap="square" lIns="36576" tIns="18288" rIns="36576" bIns="18288" anchor="t">
            <a:spAutoFit/>
          </a:bodyPr>
          <a:lstStyle/>
          <a:p>
            <a:pPr algn="l">
              <a:spcAft>
                <a:spcPts val="200"/>
              </a:spcAft>
            </a:pPr>
            <a:r>
              <a:rPr sz="1300" b="0" i="0">
                <a:solidFill>
                  <a:srgbClr val="96A8C4"/>
                </a:solidFill>
                <a:latin typeface="Segoe UI"/>
              </a:rPr>
              <a:t>Highest explicitly supported level wins.</a:t>
            </a:r>
          </a:p>
          <a:p>
            <a:pPr algn="l">
              <a:spcAft>
                <a:spcPts val="200"/>
              </a:spcAft>
            </a:pPr>
            <a:r>
              <a:rPr sz="1300" b="0" i="0">
                <a:solidFill>
                  <a:srgbClr val="96A8C4"/>
                </a:solidFill>
                <a:latin typeface="Segoe UI"/>
              </a:rPr>
              <a:t>Each result carries a readable reason.</a:t>
            </a:r>
          </a:p>
        </p:txBody>
      </p:sp>
      <p:sp>
        <p:nvSpPr>
          <p:cNvPr id="17" name="Rounded Rectangle 16"/>
          <p:cNvSpPr/>
          <p:nvPr/>
        </p:nvSpPr>
        <p:spPr>
          <a:xfrm>
            <a:off x="6583680" y="1371600"/>
            <a:ext cx="5029200" cy="214884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12280" y="1463040"/>
            <a:ext cx="4663440" cy="365760"/>
          </a:xfrm>
          <a:prstGeom prst="rect">
            <a:avLst/>
          </a:prstGeom>
          <a:noFill/>
        </p:spPr>
        <p:txBody>
          <a:bodyPr wrap="square" lIns="36576" tIns="18288" rIns="36576" bIns="18288" anchor="t">
            <a:spAutoFit/>
          </a:bodyPr>
          <a:lstStyle/>
          <a:p>
            <a:pPr algn="l"/>
            <a:r>
              <a:rPr sz="1800" b="1" i="0">
                <a:solidFill>
                  <a:srgbClr val="EAF2FF"/>
                </a:solidFill>
                <a:latin typeface="Segoe UI"/>
              </a:rPr>
              <a:t>Local AI assist (optional)</a:t>
            </a:r>
          </a:p>
        </p:txBody>
      </p:sp>
      <p:sp>
        <p:nvSpPr>
          <p:cNvPr id="19" name="TextBox 18"/>
          <p:cNvSpPr txBox="1"/>
          <p:nvPr/>
        </p:nvSpPr>
        <p:spPr>
          <a:xfrm>
            <a:off x="6812280" y="1920240"/>
            <a:ext cx="4663440" cy="1554480"/>
          </a:xfrm>
          <a:prstGeom prst="rect">
            <a:avLst/>
          </a:prstGeom>
          <a:noFill/>
        </p:spPr>
        <p:txBody>
          <a:bodyPr wrap="square" lIns="36576" tIns="18288" rIns="36576" bIns="18288" anchor="t">
            <a:spAutoFit/>
          </a:bodyPr>
          <a:lstStyle/>
          <a:p>
            <a:pPr algn="l">
              <a:spcAft>
                <a:spcPts val="300"/>
              </a:spcAft>
            </a:pPr>
            <a:r>
              <a:rPr sz="1350" b="0" i="0">
                <a:solidFill>
                  <a:srgbClr val="C8D6EE"/>
                </a:solidFill>
                <a:latin typeface="Segoe UI"/>
              </a:rPr>
              <a:t>Qwen2.5-0.5B on-device (llama.cpp)</a:t>
            </a:r>
          </a:p>
          <a:p>
            <a:pPr algn="l">
              <a:spcAft>
                <a:spcPts val="300"/>
              </a:spcAft>
            </a:pPr>
            <a:r>
              <a:rPr sz="1350" b="0" i="0">
                <a:solidFill>
                  <a:srgbClr val="C8D6EE"/>
                </a:solidFill>
                <a:latin typeface="Segoe UI"/>
              </a:rPr>
              <a:t>Proposes category and people count</a:t>
            </a:r>
          </a:p>
          <a:p>
            <a:pPr algn="l">
              <a:spcAft>
                <a:spcPts val="300"/>
              </a:spcAft>
            </a:pPr>
            <a:r>
              <a:rPr sz="1350" b="0" i="0">
                <a:solidFill>
                  <a:srgbClr val="C8D6EE"/>
                </a:solidFill>
                <a:latin typeface="Segoe UI"/>
              </a:rPr>
              <a:t>Unknown stays unknown - never invented</a:t>
            </a:r>
          </a:p>
          <a:p>
            <a:pPr algn="l">
              <a:spcAft>
                <a:spcPts val="300"/>
              </a:spcAft>
            </a:pPr>
            <a:r>
              <a:rPr sz="1350" b="0" i="0">
                <a:solidFill>
                  <a:srgbClr val="C8D6EE"/>
                </a:solidFill>
                <a:latin typeface="Segoe UI"/>
              </a:rPr>
              <a:t>Proposal is editable; the person confirms it</a:t>
            </a:r>
          </a:p>
        </p:txBody>
      </p:sp>
      <p:sp>
        <p:nvSpPr>
          <p:cNvPr id="20" name="Rounded Rectangle 19"/>
          <p:cNvSpPr/>
          <p:nvPr/>
        </p:nvSpPr>
        <p:spPr>
          <a:xfrm>
            <a:off x="6583680" y="3703320"/>
            <a:ext cx="5029200" cy="246888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phone_coordinator_received.png"/>
          <p:cNvPicPr>
            <a:picLocks noChangeAspect="1"/>
          </p:cNvPicPr>
          <p:nvPr/>
        </p:nvPicPr>
        <p:blipFill>
          <a:blip r:embed="rId4"/>
          <a:stretch>
            <a:fillRect/>
          </a:stretch>
        </p:blipFill>
        <p:spPr>
          <a:xfrm>
            <a:off x="6812280" y="3794760"/>
            <a:ext cx="1112108" cy="2286000"/>
          </a:xfrm>
          <a:prstGeom prst="rect">
            <a:avLst/>
          </a:prstGeom>
        </p:spPr>
      </p:pic>
      <p:sp>
        <p:nvSpPr>
          <p:cNvPr id="22" name="TextBox 21"/>
          <p:cNvSpPr txBox="1"/>
          <p:nvPr/>
        </p:nvSpPr>
        <p:spPr>
          <a:xfrm>
            <a:off x="8412480" y="3931920"/>
            <a:ext cx="3108960" cy="1554480"/>
          </a:xfrm>
          <a:prstGeom prst="rect">
            <a:avLst/>
          </a:prstGeom>
          <a:noFill/>
        </p:spPr>
        <p:txBody>
          <a:bodyPr wrap="square" lIns="36576" tIns="18288" rIns="36576" bIns="18288" anchor="t">
            <a:spAutoFit/>
          </a:bodyPr>
          <a:lstStyle/>
          <a:p>
            <a:pPr algn="l">
              <a:spcAft>
                <a:spcPts val="300"/>
              </a:spcAft>
            </a:pPr>
            <a:r>
              <a:rPr sz="1300" b="0" i="0">
                <a:solidFill>
                  <a:srgbClr val="C8D6EE"/>
                </a:solidFill>
                <a:latin typeface="Segoe UI"/>
              </a:rPr>
              <a:t>Coordinator dashboard:</a:t>
            </a:r>
          </a:p>
          <a:p>
            <a:pPr algn="l">
              <a:spcAft>
                <a:spcPts val="300"/>
              </a:spcAft>
            </a:pPr>
            <a:r>
              <a:rPr sz="1300" b="0" i="0">
                <a:solidFill>
                  <a:srgbClr val="C8D6EE"/>
                </a:solidFill>
                <a:latin typeface="Segoe UI"/>
              </a:rPr>
              <a:t>newest received report is highlighted;</a:t>
            </a:r>
          </a:p>
          <a:p>
            <a:pPr algn="l">
              <a:spcAft>
                <a:spcPts val="300"/>
              </a:spcAft>
            </a:pPr>
            <a:r>
              <a:rPr sz="1300" b="0" i="0">
                <a:solidFill>
                  <a:srgbClr val="C8D6EE"/>
                </a:solidFill>
                <a:latin typeface="Segoe UI"/>
              </a:rPr>
              <a:t>a priority filter never hides a new SOS.</a:t>
            </a:r>
          </a:p>
        </p:txBody>
      </p:sp>
      <p:sp>
        <p:nvSpPr>
          <p:cNvPr id="23" name="TextBox 22"/>
          <p:cNvSpPr txBox="1"/>
          <p:nvPr/>
        </p:nvSpPr>
        <p:spPr>
          <a:xfrm>
            <a:off x="8412480" y="5669280"/>
            <a:ext cx="3108960" cy="457200"/>
          </a:xfrm>
          <a:prstGeom prst="rect">
            <a:avLst/>
          </a:prstGeom>
          <a:noFill/>
        </p:spPr>
        <p:txBody>
          <a:bodyPr wrap="square" lIns="36576" tIns="18288" rIns="36576" bIns="18288" anchor="t">
            <a:spAutoFit/>
          </a:bodyPr>
          <a:lstStyle/>
          <a:p>
            <a:pPr algn="l"/>
            <a:r>
              <a:rPr sz="1000" b="0" i="0">
                <a:solidFill>
                  <a:srgbClr val="96A0BE"/>
                </a:solidFill>
                <a:latin typeface="Segoe UI"/>
              </a:rPr>
              <a:t>Illustrative mockup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a.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TECHNICAL ARCHITECTURE</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What is actually in the repository</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9</a:t>
            </a:r>
          </a:p>
        </p:txBody>
      </p:sp>
      <p:cxnSp>
        <p:nvCxnSpPr>
          <p:cNvPr id="7" name="Connector 6"/>
          <p:cNvCxnSpPr/>
          <p:nvPr/>
        </p:nvCxnSpPr>
        <p:spPr>
          <a:xfrm>
            <a:off x="6080760" y="2176272"/>
            <a:ext cx="0" cy="182880"/>
          </a:xfrm>
          <a:prstGeom prst="line">
            <a:avLst/>
          </a:prstGeom>
          <a:ln w="3175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80760" y="3172968"/>
            <a:ext cx="0" cy="182880"/>
          </a:xfrm>
          <a:prstGeom prst="line">
            <a:avLst/>
          </a:prstGeom>
          <a:ln w="3175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80760" y="4169663"/>
            <a:ext cx="0" cy="182881"/>
          </a:xfrm>
          <a:prstGeom prst="line">
            <a:avLst/>
          </a:prstGeom>
          <a:ln w="3175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80760" y="5166360"/>
            <a:ext cx="0" cy="182880"/>
          </a:xfrm>
          <a:prstGeom prst="line">
            <a:avLst/>
          </a:prstGeom>
          <a:ln w="31750">
            <a:solidFill>
              <a:srgbClr val="96A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1371600"/>
            <a:ext cx="11064240" cy="804672"/>
          </a:xfrm>
          <a:prstGeom prst="roundRect">
            <a:avLst>
              <a:gd name="adj" fmla="val 8000"/>
            </a:avLst>
          </a:prstGeom>
          <a:solidFill>
            <a:srgbClr val="0D1A38">
              <a:alpha val="55000"/>
            </a:srgbClr>
          </a:solidFill>
          <a:ln w="15875">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408176"/>
            <a:ext cx="2743200" cy="274320"/>
          </a:xfrm>
          <a:prstGeom prst="rect">
            <a:avLst/>
          </a:prstGeom>
          <a:noFill/>
        </p:spPr>
        <p:txBody>
          <a:bodyPr wrap="square" lIns="36576" tIns="18288" rIns="36576" bIns="18288" anchor="t">
            <a:spAutoFit/>
          </a:bodyPr>
          <a:lstStyle/>
          <a:p>
            <a:pPr algn="l"/>
            <a:r>
              <a:rPr sz="1050" b="1" i="0">
                <a:solidFill>
                  <a:srgbClr val="35E0FF"/>
                </a:solidFill>
                <a:latin typeface="Segoe UI"/>
              </a:rPr>
              <a:t>ANDROID UI - JETPACK COMPOSE</a:t>
            </a:r>
          </a:p>
        </p:txBody>
      </p:sp>
      <p:sp>
        <p:nvSpPr>
          <p:cNvPr id="13" name="Rounded Rectangle 12"/>
          <p:cNvSpPr/>
          <p:nvPr/>
        </p:nvSpPr>
        <p:spPr>
          <a:xfrm>
            <a:off x="685800" y="1700784"/>
            <a:ext cx="2055571" cy="384048"/>
          </a:xfrm>
          <a:prstGeom prst="roundRect">
            <a:avLst>
              <a:gd name="adj" fmla="val 12000"/>
            </a:avLst>
          </a:prstGeom>
          <a:solidFill>
            <a:srgbClr val="12244E">
              <a:alpha val="95000"/>
            </a:srgbClr>
          </a:solidFill>
          <a:ln w="12700">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1700784"/>
            <a:ext cx="2055571"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SosSenderScreen</a:t>
            </a:r>
          </a:p>
        </p:txBody>
      </p:sp>
      <p:sp>
        <p:nvSpPr>
          <p:cNvPr id="15" name="Rounded Rectangle 14"/>
          <p:cNvSpPr/>
          <p:nvPr/>
        </p:nvSpPr>
        <p:spPr>
          <a:xfrm>
            <a:off x="2869387" y="1700784"/>
            <a:ext cx="2055571" cy="384048"/>
          </a:xfrm>
          <a:prstGeom prst="roundRect">
            <a:avLst>
              <a:gd name="adj" fmla="val 12000"/>
            </a:avLst>
          </a:prstGeom>
          <a:solidFill>
            <a:srgbClr val="12244E">
              <a:alpha val="95000"/>
            </a:srgbClr>
          </a:solidFill>
          <a:ln w="12700">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69387" y="1700784"/>
            <a:ext cx="2055571"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RelayDeviceScreen</a:t>
            </a:r>
          </a:p>
        </p:txBody>
      </p:sp>
      <p:sp>
        <p:nvSpPr>
          <p:cNvPr id="17" name="Rounded Rectangle 16"/>
          <p:cNvSpPr/>
          <p:nvPr/>
        </p:nvSpPr>
        <p:spPr>
          <a:xfrm>
            <a:off x="5052974" y="1700784"/>
            <a:ext cx="2055571" cy="384048"/>
          </a:xfrm>
          <a:prstGeom prst="roundRect">
            <a:avLst>
              <a:gd name="adj" fmla="val 12000"/>
            </a:avLst>
          </a:prstGeom>
          <a:solidFill>
            <a:srgbClr val="12244E">
              <a:alpha val="95000"/>
            </a:srgbClr>
          </a:solidFill>
          <a:ln w="12700">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52974" y="1700784"/>
            <a:ext cx="2055571"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CoordinatorScreen</a:t>
            </a:r>
          </a:p>
        </p:txBody>
      </p:sp>
      <p:sp>
        <p:nvSpPr>
          <p:cNvPr id="19" name="Rounded Rectangle 18"/>
          <p:cNvSpPr/>
          <p:nvPr/>
        </p:nvSpPr>
        <p:spPr>
          <a:xfrm>
            <a:off x="7236561" y="1700784"/>
            <a:ext cx="2055571" cy="384048"/>
          </a:xfrm>
          <a:prstGeom prst="roundRect">
            <a:avLst>
              <a:gd name="adj" fmla="val 12000"/>
            </a:avLst>
          </a:prstGeom>
          <a:solidFill>
            <a:srgbClr val="12244E">
              <a:alpha val="95000"/>
            </a:srgbClr>
          </a:solidFill>
          <a:ln w="12700">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36561" y="1700784"/>
            <a:ext cx="2055571"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Direct Device Link (OfflineCommScreen)</a:t>
            </a:r>
          </a:p>
        </p:txBody>
      </p:sp>
      <p:sp>
        <p:nvSpPr>
          <p:cNvPr id="21" name="Rounded Rectangle 20"/>
          <p:cNvSpPr/>
          <p:nvPr/>
        </p:nvSpPr>
        <p:spPr>
          <a:xfrm>
            <a:off x="9420148" y="1700784"/>
            <a:ext cx="2055571" cy="384048"/>
          </a:xfrm>
          <a:prstGeom prst="roundRect">
            <a:avLst>
              <a:gd name="adj" fmla="val 12000"/>
            </a:avLst>
          </a:prstGeom>
          <a:solidFill>
            <a:srgbClr val="12244E">
              <a:alpha val="95000"/>
            </a:srgbClr>
          </a:solidFill>
          <a:ln w="12700">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20148" y="1700784"/>
            <a:ext cx="2055571"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OfflineMapScreen</a:t>
            </a:r>
          </a:p>
        </p:txBody>
      </p:sp>
      <p:sp>
        <p:nvSpPr>
          <p:cNvPr id="23" name="Rounded Rectangle 22"/>
          <p:cNvSpPr/>
          <p:nvPr/>
        </p:nvSpPr>
        <p:spPr>
          <a:xfrm>
            <a:off x="548640" y="2377440"/>
            <a:ext cx="11064240" cy="804672"/>
          </a:xfrm>
          <a:prstGeom prst="roundRect">
            <a:avLst>
              <a:gd name="adj" fmla="val 8000"/>
            </a:avLst>
          </a:prstGeom>
          <a:solidFill>
            <a:srgbClr val="0D1A38">
              <a:alpha val="55000"/>
            </a:srgbClr>
          </a:solidFill>
          <a:ln w="15875">
            <a:solidFill>
              <a:srgbClr val="96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2414016"/>
            <a:ext cx="2743200" cy="274320"/>
          </a:xfrm>
          <a:prstGeom prst="rect">
            <a:avLst/>
          </a:prstGeom>
          <a:noFill/>
        </p:spPr>
        <p:txBody>
          <a:bodyPr wrap="square" lIns="36576" tIns="18288" rIns="36576" bIns="18288" anchor="t">
            <a:spAutoFit/>
          </a:bodyPr>
          <a:lstStyle/>
          <a:p>
            <a:pPr algn="l"/>
            <a:r>
              <a:rPr sz="1050" b="1" i="0">
                <a:solidFill>
                  <a:srgbClr val="9678FF"/>
                </a:solidFill>
                <a:latin typeface="Segoe UI"/>
              </a:rPr>
              <a:t>ON-DEVICE INTELLIGENCE</a:t>
            </a:r>
          </a:p>
        </p:txBody>
      </p:sp>
      <p:sp>
        <p:nvSpPr>
          <p:cNvPr id="25" name="Rounded Rectangle 24"/>
          <p:cNvSpPr/>
          <p:nvPr/>
        </p:nvSpPr>
        <p:spPr>
          <a:xfrm>
            <a:off x="685800" y="2706624"/>
            <a:ext cx="2601468" cy="384048"/>
          </a:xfrm>
          <a:prstGeom prst="roundRect">
            <a:avLst>
              <a:gd name="adj" fmla="val 12000"/>
            </a:avLst>
          </a:prstGeom>
          <a:solidFill>
            <a:srgbClr val="12244E">
              <a:alpha val="95000"/>
            </a:srgbClr>
          </a:solidFill>
          <a:ln w="12700">
            <a:solidFill>
              <a:srgbClr val="96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2706624"/>
            <a:ext cx="2601468"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PriorityClassifier (rules)</a:t>
            </a:r>
          </a:p>
        </p:txBody>
      </p:sp>
      <p:sp>
        <p:nvSpPr>
          <p:cNvPr id="27" name="Rounded Rectangle 26"/>
          <p:cNvSpPr/>
          <p:nvPr/>
        </p:nvSpPr>
        <p:spPr>
          <a:xfrm>
            <a:off x="3415284" y="2706624"/>
            <a:ext cx="2601468" cy="384048"/>
          </a:xfrm>
          <a:prstGeom prst="roundRect">
            <a:avLst>
              <a:gd name="adj" fmla="val 12000"/>
            </a:avLst>
          </a:prstGeom>
          <a:solidFill>
            <a:srgbClr val="12244E">
              <a:alpha val="95000"/>
            </a:srgbClr>
          </a:solidFill>
          <a:ln w="12700">
            <a:solidFill>
              <a:srgbClr val="96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5284" y="2706624"/>
            <a:ext cx="2601468"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OfflineSpeechManager (Vosk)</a:t>
            </a:r>
          </a:p>
        </p:txBody>
      </p:sp>
      <p:sp>
        <p:nvSpPr>
          <p:cNvPr id="29" name="Rounded Rectangle 28"/>
          <p:cNvSpPr/>
          <p:nvPr/>
        </p:nvSpPr>
        <p:spPr>
          <a:xfrm>
            <a:off x="6144768" y="2706624"/>
            <a:ext cx="2601468" cy="384048"/>
          </a:xfrm>
          <a:prstGeom prst="roundRect">
            <a:avLst>
              <a:gd name="adj" fmla="val 12000"/>
            </a:avLst>
          </a:prstGeom>
          <a:solidFill>
            <a:srgbClr val="12244E">
              <a:alpha val="95000"/>
            </a:srgbClr>
          </a:solidFill>
          <a:ln w="12700">
            <a:solidFill>
              <a:srgbClr val="96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44768" y="2706624"/>
            <a:ext cx="2601468"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OfflineAiExtractor (llama.cpp, Qwen2.5)</a:t>
            </a:r>
          </a:p>
        </p:txBody>
      </p:sp>
      <p:sp>
        <p:nvSpPr>
          <p:cNvPr id="31" name="Rounded Rectangle 30"/>
          <p:cNvSpPr/>
          <p:nvPr/>
        </p:nvSpPr>
        <p:spPr>
          <a:xfrm>
            <a:off x="8874252" y="2706624"/>
            <a:ext cx="2601468" cy="384048"/>
          </a:xfrm>
          <a:prstGeom prst="roundRect">
            <a:avLst>
              <a:gd name="adj" fmla="val 12000"/>
            </a:avLst>
          </a:prstGeom>
          <a:solidFill>
            <a:srgbClr val="12244E">
              <a:alpha val="95000"/>
            </a:srgbClr>
          </a:solidFill>
          <a:ln w="12700">
            <a:solidFill>
              <a:srgbClr val="967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74252" y="2706624"/>
            <a:ext cx="2601468"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MapsforgeMapView (offline maps)</a:t>
            </a:r>
          </a:p>
        </p:txBody>
      </p:sp>
      <p:sp>
        <p:nvSpPr>
          <p:cNvPr id="33" name="Rounded Rectangle 32"/>
          <p:cNvSpPr/>
          <p:nvPr/>
        </p:nvSpPr>
        <p:spPr>
          <a:xfrm>
            <a:off x="548640" y="3374136"/>
            <a:ext cx="11064240" cy="804672"/>
          </a:xfrm>
          <a:prstGeom prst="roundRect">
            <a:avLst>
              <a:gd name="adj" fmla="val 8000"/>
            </a:avLst>
          </a:prstGeom>
          <a:solidFill>
            <a:srgbClr val="0D1A38">
              <a:alpha val="55000"/>
            </a:srgbClr>
          </a:solidFill>
          <a:ln w="15875">
            <a:solidFill>
              <a:srgbClr val="00DF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5800" y="3410712"/>
            <a:ext cx="2743200" cy="274320"/>
          </a:xfrm>
          <a:prstGeom prst="rect">
            <a:avLst/>
          </a:prstGeom>
          <a:noFill/>
        </p:spPr>
        <p:txBody>
          <a:bodyPr wrap="square" lIns="36576" tIns="18288" rIns="36576" bIns="18288" anchor="t">
            <a:spAutoFit/>
          </a:bodyPr>
          <a:lstStyle/>
          <a:p>
            <a:pPr algn="l"/>
            <a:r>
              <a:rPr sz="1050" b="1" i="0">
                <a:solidFill>
                  <a:srgbClr val="00DF81"/>
                </a:solidFill>
                <a:latin typeface="Segoe UI"/>
              </a:rPr>
              <a:t>DELIVERY ENGINE</a:t>
            </a:r>
          </a:p>
        </p:txBody>
      </p:sp>
      <p:sp>
        <p:nvSpPr>
          <p:cNvPr id="35" name="Rounded Rectangle 34"/>
          <p:cNvSpPr/>
          <p:nvPr/>
        </p:nvSpPr>
        <p:spPr>
          <a:xfrm>
            <a:off x="685800" y="3703320"/>
            <a:ext cx="5330951" cy="384048"/>
          </a:xfrm>
          <a:prstGeom prst="roundRect">
            <a:avLst>
              <a:gd name="adj" fmla="val 12000"/>
            </a:avLst>
          </a:prstGeom>
          <a:solidFill>
            <a:srgbClr val="12244E">
              <a:alpha val="95000"/>
            </a:srgbClr>
          </a:solidFill>
          <a:ln w="12700">
            <a:solidFill>
              <a:srgbClr val="00DF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3703320"/>
            <a:ext cx="5330951"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StoreAndForwardController (link-driven, never dials)</a:t>
            </a:r>
          </a:p>
        </p:txBody>
      </p:sp>
      <p:sp>
        <p:nvSpPr>
          <p:cNvPr id="37" name="Rounded Rectangle 36"/>
          <p:cNvSpPr/>
          <p:nvPr/>
        </p:nvSpPr>
        <p:spPr>
          <a:xfrm>
            <a:off x="6144767" y="3703320"/>
            <a:ext cx="5330951" cy="384048"/>
          </a:xfrm>
          <a:prstGeom prst="roundRect">
            <a:avLst>
              <a:gd name="adj" fmla="val 12000"/>
            </a:avLst>
          </a:prstGeom>
          <a:solidFill>
            <a:srgbClr val="12244E">
              <a:alpha val="95000"/>
            </a:srgbClr>
          </a:solidFill>
          <a:ln w="12700">
            <a:solidFill>
              <a:srgbClr val="00DF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44767" y="3703320"/>
            <a:ext cx="5330951"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Role + ACK validation (Sender / Relay / Coordinator)</a:t>
            </a:r>
          </a:p>
        </p:txBody>
      </p:sp>
      <p:sp>
        <p:nvSpPr>
          <p:cNvPr id="39" name="Rounded Rectangle 38"/>
          <p:cNvSpPr/>
          <p:nvPr/>
        </p:nvSpPr>
        <p:spPr>
          <a:xfrm>
            <a:off x="548640" y="4370832"/>
            <a:ext cx="11064240" cy="804672"/>
          </a:xfrm>
          <a:prstGeom prst="roundRect">
            <a:avLst>
              <a:gd name="adj" fmla="val 8000"/>
            </a:avLst>
          </a:prstGeom>
          <a:solidFill>
            <a:srgbClr val="0D1A38">
              <a:alpha val="55000"/>
            </a:srgbClr>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5800" y="4407408"/>
            <a:ext cx="2743200" cy="274320"/>
          </a:xfrm>
          <a:prstGeom prst="rect">
            <a:avLst/>
          </a:prstGeom>
          <a:noFill/>
        </p:spPr>
        <p:txBody>
          <a:bodyPr wrap="square" lIns="36576" tIns="18288" rIns="36576" bIns="18288" anchor="t">
            <a:spAutoFit/>
          </a:bodyPr>
          <a:lstStyle/>
          <a:p>
            <a:pPr algn="l"/>
            <a:r>
              <a:rPr sz="1050" b="1" i="0">
                <a:solidFill>
                  <a:srgbClr val="FFB020"/>
                </a:solidFill>
                <a:latin typeface="Segoe UI"/>
              </a:rPr>
              <a:t>PROTOCOL AND DURABLE STORES</a:t>
            </a:r>
          </a:p>
        </p:txBody>
      </p:sp>
      <p:sp>
        <p:nvSpPr>
          <p:cNvPr id="41" name="Rounded Rectangle 40"/>
          <p:cNvSpPr/>
          <p:nvPr/>
        </p:nvSpPr>
        <p:spPr>
          <a:xfrm>
            <a:off x="685800" y="4700016"/>
            <a:ext cx="2601468" cy="384048"/>
          </a:xfrm>
          <a:prstGeom prst="roundRect">
            <a:avLst>
              <a:gd name="adj" fmla="val 12000"/>
            </a:avLst>
          </a:prstGeom>
          <a:solidFill>
            <a:srgbClr val="12244E">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85800" y="4700016"/>
            <a:ext cx="2601468"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SethuMessage + SosReport (JSON lines)</a:t>
            </a:r>
          </a:p>
        </p:txBody>
      </p:sp>
      <p:sp>
        <p:nvSpPr>
          <p:cNvPr id="43" name="Rounded Rectangle 42"/>
          <p:cNvSpPr/>
          <p:nvPr/>
        </p:nvSpPr>
        <p:spPr>
          <a:xfrm>
            <a:off x="3415284" y="4700016"/>
            <a:ext cx="2601468" cy="384048"/>
          </a:xfrm>
          <a:prstGeom prst="roundRect">
            <a:avLst>
              <a:gd name="adj" fmla="val 12000"/>
            </a:avLst>
          </a:prstGeom>
          <a:solidFill>
            <a:srgbClr val="12244E">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15284" y="4700016"/>
            <a:ext cx="2601468"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SenderReportStore</a:t>
            </a:r>
          </a:p>
        </p:txBody>
      </p:sp>
      <p:sp>
        <p:nvSpPr>
          <p:cNvPr id="45" name="Rounded Rectangle 44"/>
          <p:cNvSpPr/>
          <p:nvPr/>
        </p:nvSpPr>
        <p:spPr>
          <a:xfrm>
            <a:off x="6144768" y="4700016"/>
            <a:ext cx="2601468" cy="384048"/>
          </a:xfrm>
          <a:prstGeom prst="roundRect">
            <a:avLst>
              <a:gd name="adj" fmla="val 12000"/>
            </a:avLst>
          </a:prstGeom>
          <a:solidFill>
            <a:srgbClr val="12244E">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44768" y="4700016"/>
            <a:ext cx="2601468"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RelayReportStore</a:t>
            </a:r>
          </a:p>
        </p:txBody>
      </p:sp>
      <p:sp>
        <p:nvSpPr>
          <p:cNvPr id="47" name="Rounded Rectangle 46"/>
          <p:cNvSpPr/>
          <p:nvPr/>
        </p:nvSpPr>
        <p:spPr>
          <a:xfrm>
            <a:off x="8874252" y="4700016"/>
            <a:ext cx="2601468" cy="384048"/>
          </a:xfrm>
          <a:prstGeom prst="roundRect">
            <a:avLst>
              <a:gd name="adj" fmla="val 12000"/>
            </a:avLst>
          </a:prstGeom>
          <a:solidFill>
            <a:srgbClr val="12244E">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874252" y="4700016"/>
            <a:ext cx="2601468"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CoordinatorReportStore</a:t>
            </a:r>
          </a:p>
        </p:txBody>
      </p:sp>
      <p:sp>
        <p:nvSpPr>
          <p:cNvPr id="49" name="Rounded Rectangle 48"/>
          <p:cNvSpPr/>
          <p:nvPr/>
        </p:nvSpPr>
        <p:spPr>
          <a:xfrm>
            <a:off x="548640" y="5367528"/>
            <a:ext cx="11064240" cy="804672"/>
          </a:xfrm>
          <a:prstGeom prst="roundRect">
            <a:avLst>
              <a:gd name="adj" fmla="val 8000"/>
            </a:avLst>
          </a:prstGeom>
          <a:solidFill>
            <a:srgbClr val="0D1A38">
              <a:alpha val="55000"/>
            </a:srgbClr>
          </a:solidFill>
          <a:ln w="15875">
            <a:solidFill>
              <a:srgbClr val="2F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85800" y="5404104"/>
            <a:ext cx="2743200" cy="274320"/>
          </a:xfrm>
          <a:prstGeom prst="rect">
            <a:avLst/>
          </a:prstGeom>
          <a:noFill/>
        </p:spPr>
        <p:txBody>
          <a:bodyPr wrap="square" lIns="36576" tIns="18288" rIns="36576" bIns="18288" anchor="t">
            <a:spAutoFit/>
          </a:bodyPr>
          <a:lstStyle/>
          <a:p>
            <a:pPr algn="l"/>
            <a:r>
              <a:rPr sz="1050" b="1" i="0">
                <a:solidFill>
                  <a:srgbClr val="2F7BFF"/>
                </a:solidFill>
                <a:latin typeface="Segoe UI"/>
              </a:rPr>
              <a:t>TRANSPORT</a:t>
            </a:r>
          </a:p>
        </p:txBody>
      </p:sp>
      <p:sp>
        <p:nvSpPr>
          <p:cNvPr id="51" name="Rounded Rectangle 50"/>
          <p:cNvSpPr/>
          <p:nvPr/>
        </p:nvSpPr>
        <p:spPr>
          <a:xfrm>
            <a:off x="685800" y="5696712"/>
            <a:ext cx="3511296" cy="384048"/>
          </a:xfrm>
          <a:prstGeom prst="roundRect">
            <a:avLst>
              <a:gd name="adj" fmla="val 12000"/>
            </a:avLst>
          </a:prstGeom>
          <a:solidFill>
            <a:srgbClr val="12244E">
              <a:alpha val="95000"/>
            </a:srgbClr>
          </a:solidFill>
          <a:ln w="12700">
            <a:solidFill>
              <a:srgbClr val="2F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5800" y="5696712"/>
            <a:ext cx="3511296"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BluetoothRfcommTransport</a:t>
            </a:r>
          </a:p>
        </p:txBody>
      </p:sp>
      <p:sp>
        <p:nvSpPr>
          <p:cNvPr id="53" name="Rounded Rectangle 52"/>
          <p:cNvSpPr/>
          <p:nvPr/>
        </p:nvSpPr>
        <p:spPr>
          <a:xfrm>
            <a:off x="4325112" y="5696712"/>
            <a:ext cx="3511296" cy="384048"/>
          </a:xfrm>
          <a:prstGeom prst="roundRect">
            <a:avLst>
              <a:gd name="adj" fmla="val 12000"/>
            </a:avLst>
          </a:prstGeom>
          <a:solidFill>
            <a:srgbClr val="12244E">
              <a:alpha val="95000"/>
            </a:srgbClr>
          </a:solidFill>
          <a:ln w="12700">
            <a:solidFill>
              <a:srgbClr val="2F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325112" y="5696712"/>
            <a:ext cx="3511296"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RfcommAdapter  -&gt;  AndroidRfcommAdapter</a:t>
            </a:r>
          </a:p>
        </p:txBody>
      </p:sp>
      <p:sp>
        <p:nvSpPr>
          <p:cNvPr id="55" name="Rounded Rectangle 54"/>
          <p:cNvSpPr/>
          <p:nvPr/>
        </p:nvSpPr>
        <p:spPr>
          <a:xfrm>
            <a:off x="7964424" y="5696712"/>
            <a:ext cx="3511296" cy="384048"/>
          </a:xfrm>
          <a:prstGeom prst="roundRect">
            <a:avLst>
              <a:gd name="adj" fmla="val 12000"/>
            </a:avLst>
          </a:prstGeom>
          <a:solidFill>
            <a:srgbClr val="12244E">
              <a:alpha val="95000"/>
            </a:srgbClr>
          </a:solidFill>
          <a:ln w="12700">
            <a:solidFill>
              <a:srgbClr val="2F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964424" y="5696712"/>
            <a:ext cx="3511296" cy="384048"/>
          </a:xfrm>
          <a:prstGeom prst="rect">
            <a:avLst/>
          </a:prstGeom>
          <a:noFill/>
        </p:spPr>
        <p:txBody>
          <a:bodyPr wrap="square" lIns="36576" tIns="18288" rIns="36576" bIns="18288" anchor="ctr">
            <a:spAutoFit/>
          </a:bodyPr>
          <a:lstStyle/>
          <a:p>
            <a:pPr algn="ctr"/>
            <a:r>
              <a:rPr sz="1150" b="1" i="0">
                <a:solidFill>
                  <a:srgbClr val="EAF2FF"/>
                </a:solidFill>
                <a:latin typeface="Segoe UI"/>
              </a:rPr>
              <a:t>Android Bluetooth Classic (RFCOMM)</a:t>
            </a:r>
          </a:p>
        </p:txBody>
      </p:sp>
      <p:sp>
        <p:nvSpPr>
          <p:cNvPr id="57" name="TextBox 56"/>
          <p:cNvSpPr txBox="1"/>
          <p:nvPr/>
        </p:nvSpPr>
        <p:spPr>
          <a:xfrm>
            <a:off x="7863840" y="384048"/>
            <a:ext cx="3840480" cy="274320"/>
          </a:xfrm>
          <a:prstGeom prst="rect">
            <a:avLst/>
          </a:prstGeom>
          <a:noFill/>
        </p:spPr>
        <p:txBody>
          <a:bodyPr wrap="square" lIns="36576" tIns="18288" rIns="36576" bIns="18288" anchor="t">
            <a:spAutoFit/>
          </a:bodyPr>
          <a:lstStyle/>
          <a:p>
            <a:pPr algn="r"/>
            <a:r>
              <a:rPr sz="1100" b="0" i="0">
                <a:solidFill>
                  <a:srgbClr val="96AACD"/>
                </a:solidFill>
                <a:latin typeface="Segoe UI"/>
              </a:rPr>
              <a:t>Kotlin | Jetpack Compose | coroutines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b.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DEMONSTRATION RESULTS</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What is verified - and what is not yet</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10</a:t>
            </a:r>
          </a:p>
        </p:txBody>
      </p:sp>
      <p:sp>
        <p:nvSpPr>
          <p:cNvPr id="7" name="Rounded Rectangle 6"/>
          <p:cNvSpPr/>
          <p:nvPr/>
        </p:nvSpPr>
        <p:spPr>
          <a:xfrm>
            <a:off x="548640" y="1463040"/>
            <a:ext cx="2606040" cy="3611880"/>
          </a:xfrm>
          <a:prstGeom prst="roundRect">
            <a:avLst>
              <a:gd name="adj" fmla="val 12000"/>
            </a:avLst>
          </a:prstGeom>
          <a:solidFill>
            <a:srgbClr val="0D1A38">
              <a:alpha val="85000"/>
            </a:srgbClr>
          </a:solidFill>
          <a:ln w="15875">
            <a:solidFill>
              <a:srgbClr val="00DF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572768"/>
            <a:ext cx="2377440" cy="640080"/>
          </a:xfrm>
          <a:prstGeom prst="rect">
            <a:avLst/>
          </a:prstGeom>
          <a:noFill/>
        </p:spPr>
        <p:txBody>
          <a:bodyPr wrap="square" lIns="36576" tIns="18288" rIns="36576" bIns="18288" anchor="t">
            <a:spAutoFit/>
          </a:bodyPr>
          <a:lstStyle/>
          <a:p>
            <a:pPr algn="l"/>
            <a:r>
              <a:rPr sz="1600" b="1" i="0">
                <a:solidFill>
                  <a:srgbClr val="EAF2FF"/>
                </a:solidFill>
                <a:latin typeface="Segoe UI"/>
              </a:rPr>
              <a:t>Automated unit tests</a:t>
            </a:r>
          </a:p>
        </p:txBody>
      </p:sp>
      <p:sp>
        <p:nvSpPr>
          <p:cNvPr id="9" name="Rounded Rectangle 8"/>
          <p:cNvSpPr/>
          <p:nvPr/>
        </p:nvSpPr>
        <p:spPr>
          <a:xfrm>
            <a:off x="685800" y="2286000"/>
            <a:ext cx="2331720" cy="384048"/>
          </a:xfrm>
          <a:prstGeom prst="roundRect">
            <a:avLst>
              <a:gd name="adj" fmla="val 50000"/>
            </a:avLst>
          </a:prstGeom>
          <a:solidFill>
            <a:srgbClr val="0E3022">
              <a:alpha val="95000"/>
            </a:srgbClr>
          </a:solidFill>
          <a:ln w="12700">
            <a:solidFill>
              <a:srgbClr val="00DF81"/>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00DF81"/>
                </a:solidFill>
                <a:latin typeface="Segoe UI"/>
              </a:rPr>
              <a:t>VERIFIED</a:t>
            </a:r>
          </a:p>
        </p:txBody>
      </p:sp>
      <p:sp>
        <p:nvSpPr>
          <p:cNvPr id="10" name="TextBox 9"/>
          <p:cNvSpPr txBox="1"/>
          <p:nvPr/>
        </p:nvSpPr>
        <p:spPr>
          <a:xfrm>
            <a:off x="685800" y="2834640"/>
            <a:ext cx="2377440" cy="2103120"/>
          </a:xfrm>
          <a:prstGeom prst="rect">
            <a:avLst/>
          </a:prstGeom>
          <a:noFill/>
        </p:spPr>
        <p:txBody>
          <a:bodyPr wrap="square" lIns="36576" tIns="18288" rIns="36576" bIns="18288" anchor="t">
            <a:spAutoFit/>
          </a:bodyPr>
          <a:lstStyle/>
          <a:p>
            <a:pPr algn="l">
              <a:spcAft>
                <a:spcPts val="800"/>
              </a:spcAft>
            </a:pPr>
            <a:r>
              <a:rPr sz="1350" b="0" i="0">
                <a:solidFill>
                  <a:srgbClr val="C8D6EE"/>
                </a:solidFill>
                <a:latin typeface="Segoe UI"/>
              </a:rPr>
              <a:t>188 unit tests, 0 failed.</a:t>
            </a:r>
          </a:p>
          <a:p>
            <a:pPr algn="l">
              <a:spcAft>
                <a:spcPts val="800"/>
              </a:spcAft>
            </a:pPr>
            <a:r>
              <a:rPr sz="1350" b="0" i="0">
                <a:solidFill>
                  <a:srgbClr val="C8D6EE"/>
                </a:solidFill>
                <a:latin typeface="Segoe UI"/>
              </a:rPr>
              <a:t>Covers stores, protocol, priority rules, ACK correlation and persistence.</a:t>
            </a:r>
          </a:p>
        </p:txBody>
      </p:sp>
      <p:sp>
        <p:nvSpPr>
          <p:cNvPr id="11" name="Rounded Rectangle 10"/>
          <p:cNvSpPr/>
          <p:nvPr/>
        </p:nvSpPr>
        <p:spPr>
          <a:xfrm>
            <a:off x="3291840" y="1463040"/>
            <a:ext cx="2606040" cy="3611880"/>
          </a:xfrm>
          <a:prstGeom prst="roundRect">
            <a:avLst>
              <a:gd name="adj" fmla="val 12000"/>
            </a:avLst>
          </a:prstGeom>
          <a:solidFill>
            <a:srgbClr val="0D1A38">
              <a:alpha val="85000"/>
            </a:srgbClr>
          </a:solidFill>
          <a:ln w="15875">
            <a:solidFill>
              <a:srgbClr val="00DF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29000" y="1572768"/>
            <a:ext cx="2377440" cy="640080"/>
          </a:xfrm>
          <a:prstGeom prst="rect">
            <a:avLst/>
          </a:prstGeom>
          <a:noFill/>
        </p:spPr>
        <p:txBody>
          <a:bodyPr wrap="square" lIns="36576" tIns="18288" rIns="36576" bIns="18288" anchor="t">
            <a:spAutoFit/>
          </a:bodyPr>
          <a:lstStyle/>
          <a:p>
            <a:pPr algn="l"/>
            <a:r>
              <a:rPr sz="1600" b="1" i="0">
                <a:solidFill>
                  <a:srgbClr val="EAF2FF"/>
                </a:solidFill>
                <a:latin typeface="Segoe UI"/>
              </a:rPr>
              <a:t>Simulated end-to-end</a:t>
            </a:r>
          </a:p>
        </p:txBody>
      </p:sp>
      <p:sp>
        <p:nvSpPr>
          <p:cNvPr id="13" name="Rounded Rectangle 12"/>
          <p:cNvSpPr/>
          <p:nvPr/>
        </p:nvSpPr>
        <p:spPr>
          <a:xfrm>
            <a:off x="3429000" y="2286000"/>
            <a:ext cx="2331720" cy="384048"/>
          </a:xfrm>
          <a:prstGeom prst="roundRect">
            <a:avLst>
              <a:gd name="adj" fmla="val 50000"/>
            </a:avLst>
          </a:prstGeom>
          <a:solidFill>
            <a:srgbClr val="0E3022">
              <a:alpha val="95000"/>
            </a:srgbClr>
          </a:solidFill>
          <a:ln w="12700">
            <a:solidFill>
              <a:srgbClr val="00DF81"/>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00DF81"/>
                </a:solidFill>
                <a:latin typeface="Segoe UI"/>
              </a:rPr>
              <a:t>VERIFIED (logic)</a:t>
            </a:r>
          </a:p>
        </p:txBody>
      </p:sp>
      <p:sp>
        <p:nvSpPr>
          <p:cNvPr id="14" name="TextBox 13"/>
          <p:cNvSpPr txBox="1"/>
          <p:nvPr/>
        </p:nvSpPr>
        <p:spPr>
          <a:xfrm>
            <a:off x="3429000" y="2834640"/>
            <a:ext cx="2377440" cy="2103120"/>
          </a:xfrm>
          <a:prstGeom prst="rect">
            <a:avLst/>
          </a:prstGeom>
          <a:noFill/>
        </p:spPr>
        <p:txBody>
          <a:bodyPr wrap="square" lIns="36576" tIns="18288" rIns="36576" bIns="18288" anchor="t">
            <a:spAutoFit/>
          </a:bodyPr>
          <a:lstStyle/>
          <a:p>
            <a:pPr algn="l">
              <a:spcAft>
                <a:spcPts val="800"/>
              </a:spcAft>
            </a:pPr>
            <a:r>
              <a:rPr sz="1350" b="0" i="0">
                <a:solidFill>
                  <a:srgbClr val="C8D6EE"/>
                </a:solidFill>
                <a:latin typeface="Segoe UI"/>
              </a:rPr>
              <a:t>Five-stage workflow on fake Bluetooth sockets.</a:t>
            </a:r>
          </a:p>
          <a:p>
            <a:pPr algn="l">
              <a:spcAft>
                <a:spcPts val="800"/>
              </a:spcAft>
            </a:pPr>
            <a:r>
              <a:rPr sz="1350" b="0" i="0">
                <a:solidFill>
                  <a:srgbClr val="C8D6EE"/>
                </a:solidFill>
                <a:latin typeface="Segoe UI"/>
              </a:rPr>
              <a:t>Also lost ACKs, restarts, duplicates and connection flapping.</a:t>
            </a:r>
          </a:p>
        </p:txBody>
      </p:sp>
      <p:sp>
        <p:nvSpPr>
          <p:cNvPr id="15" name="Rounded Rectangle 14"/>
          <p:cNvSpPr/>
          <p:nvPr/>
        </p:nvSpPr>
        <p:spPr>
          <a:xfrm>
            <a:off x="6035040" y="1463040"/>
            <a:ext cx="2606040" cy="3611880"/>
          </a:xfrm>
          <a:prstGeom prst="roundRect">
            <a:avLst>
              <a:gd name="adj" fmla="val 12000"/>
            </a:avLst>
          </a:prstGeom>
          <a:solidFill>
            <a:srgbClr val="0D1A38">
              <a:alpha val="85000"/>
            </a:srgbClr>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72200" y="1572768"/>
            <a:ext cx="2377440" cy="640080"/>
          </a:xfrm>
          <a:prstGeom prst="rect">
            <a:avLst/>
          </a:prstGeom>
          <a:noFill/>
        </p:spPr>
        <p:txBody>
          <a:bodyPr wrap="square" lIns="36576" tIns="18288" rIns="36576" bIns="18288" anchor="t">
            <a:spAutoFit/>
          </a:bodyPr>
          <a:lstStyle/>
          <a:p>
            <a:pPr algn="l"/>
            <a:r>
              <a:rPr sz="1600" b="1" i="0">
                <a:solidFill>
                  <a:srgbClr val="EAF2FF"/>
                </a:solidFill>
                <a:latin typeface="Segoe UI"/>
              </a:rPr>
              <a:t>Physical Bluetooth</a:t>
            </a:r>
          </a:p>
        </p:txBody>
      </p:sp>
      <p:sp>
        <p:nvSpPr>
          <p:cNvPr id="17" name="Rounded Rectangle 16"/>
          <p:cNvSpPr/>
          <p:nvPr/>
        </p:nvSpPr>
        <p:spPr>
          <a:xfrm>
            <a:off x="6172200" y="2286000"/>
            <a:ext cx="2331720" cy="384048"/>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FFB020"/>
                </a:solidFill>
                <a:latin typeface="Segoe UI"/>
              </a:rPr>
              <a:t>IN PROGRESS</a:t>
            </a:r>
          </a:p>
        </p:txBody>
      </p:sp>
      <p:sp>
        <p:nvSpPr>
          <p:cNvPr id="18" name="TextBox 17"/>
          <p:cNvSpPr txBox="1"/>
          <p:nvPr/>
        </p:nvSpPr>
        <p:spPr>
          <a:xfrm>
            <a:off x="6172200" y="2834640"/>
            <a:ext cx="2377440" cy="2103120"/>
          </a:xfrm>
          <a:prstGeom prst="rect">
            <a:avLst/>
          </a:prstGeom>
          <a:noFill/>
        </p:spPr>
        <p:txBody>
          <a:bodyPr wrap="square" lIns="36576" tIns="18288" rIns="36576" bIns="18288" anchor="t">
            <a:spAutoFit/>
          </a:bodyPr>
          <a:lstStyle/>
          <a:p>
            <a:pPr algn="l">
              <a:spcAft>
                <a:spcPts val="800"/>
              </a:spcAft>
            </a:pPr>
            <a:r>
              <a:rPr sz="1350" b="0" i="0">
                <a:solidFill>
                  <a:srgbClr val="C8D6EE"/>
                </a:solidFill>
                <a:latin typeface="Segoe UI"/>
              </a:rPr>
              <a:t>Three-phone run not yet verified.</a:t>
            </a:r>
          </a:p>
          <a:p>
            <a:pPr algn="l">
              <a:spcAft>
                <a:spcPts val="800"/>
              </a:spcAft>
            </a:pPr>
            <a:r>
              <a:rPr sz="1350" b="0" i="0">
                <a:solidFill>
                  <a:srgbClr val="C8D6EE"/>
                </a:solidFill>
                <a:latin typeface="Segoe UI"/>
              </a:rPr>
              <a:t>First iQOO &gt; Vivo attempt failed at the RFCOMM connect step; debugging.</a:t>
            </a:r>
          </a:p>
        </p:txBody>
      </p:sp>
      <p:sp>
        <p:nvSpPr>
          <p:cNvPr id="19" name="Rounded Rectangle 18"/>
          <p:cNvSpPr/>
          <p:nvPr/>
        </p:nvSpPr>
        <p:spPr>
          <a:xfrm>
            <a:off x="8915400" y="1463040"/>
            <a:ext cx="2743200" cy="4663440"/>
          </a:xfrm>
          <a:prstGeom prst="roundRect">
            <a:avLst>
              <a:gd name="adj" fmla="val 12000"/>
            </a:avLst>
          </a:prstGeom>
          <a:solidFill>
            <a:srgbClr val="0D1A38">
              <a:alpha val="85000"/>
            </a:srgbClr>
          </a:solidFill>
          <a:ln w="1587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real_iqoo_attempt.png"/>
          <p:cNvPicPr>
            <a:picLocks noChangeAspect="1"/>
          </p:cNvPicPr>
          <p:nvPr/>
        </p:nvPicPr>
        <p:blipFill>
          <a:blip r:embed="rId4"/>
          <a:stretch>
            <a:fillRect/>
          </a:stretch>
        </p:blipFill>
        <p:spPr>
          <a:xfrm>
            <a:off x="9372600" y="1600200"/>
            <a:ext cx="1768489" cy="3657600"/>
          </a:xfrm>
          <a:prstGeom prst="rect">
            <a:avLst/>
          </a:prstGeom>
        </p:spPr>
      </p:pic>
      <p:sp>
        <p:nvSpPr>
          <p:cNvPr id="21" name="TextBox 20"/>
          <p:cNvSpPr txBox="1"/>
          <p:nvPr/>
        </p:nvSpPr>
        <p:spPr>
          <a:xfrm>
            <a:off x="8961120" y="5349240"/>
            <a:ext cx="2651760" cy="731520"/>
          </a:xfrm>
          <a:prstGeom prst="rect">
            <a:avLst/>
          </a:prstGeom>
          <a:noFill/>
        </p:spPr>
        <p:txBody>
          <a:bodyPr wrap="square" lIns="36576" tIns="18288" rIns="36576" bIns="18288" anchor="t">
            <a:spAutoFit/>
          </a:bodyPr>
          <a:lstStyle/>
          <a:p>
            <a:pPr algn="ctr"/>
            <a:r>
              <a:rPr sz="1100" b="1" i="0">
                <a:solidFill>
                  <a:srgbClr val="FFB020"/>
                </a:solidFill>
                <a:latin typeface="Segoe UI"/>
              </a:rPr>
              <a:t>REAL screenshot - iQOO 15</a:t>
            </a:r>
          </a:p>
          <a:p>
            <a:pPr algn="ctr"/>
            <a:r>
              <a:rPr sz="1100" b="1" i="0">
                <a:solidFill>
                  <a:srgbClr val="FFB020"/>
                </a:solidFill>
                <a:latin typeface="Segoe UI"/>
              </a:rPr>
              <a:t>first physical attempt (failed)</a:t>
            </a:r>
          </a:p>
        </p:txBody>
      </p:sp>
      <p:sp>
        <p:nvSpPr>
          <p:cNvPr id="22" name="Rounded Rectangle 21"/>
          <p:cNvSpPr/>
          <p:nvPr/>
        </p:nvSpPr>
        <p:spPr>
          <a:xfrm>
            <a:off x="548640" y="5257800"/>
            <a:ext cx="8138160" cy="868680"/>
          </a:xfrm>
          <a:prstGeom prst="roundRect">
            <a:avLst>
              <a:gd name="adj" fmla="val 20000"/>
            </a:avLst>
          </a:prstGeom>
          <a:solidFill>
            <a:srgbClr val="0C2450">
              <a:alpha val="90000"/>
            </a:srgbClr>
          </a:solidFill>
          <a:ln w="15875">
            <a:solidFill>
              <a:srgbClr val="35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303520"/>
            <a:ext cx="7772400" cy="777240"/>
          </a:xfrm>
          <a:prstGeom prst="rect">
            <a:avLst/>
          </a:prstGeom>
          <a:noFill/>
        </p:spPr>
        <p:txBody>
          <a:bodyPr wrap="square" lIns="36576" tIns="18288" rIns="36576" bIns="18288" anchor="ctr">
            <a:spAutoFit/>
          </a:bodyPr>
          <a:lstStyle/>
          <a:p>
            <a:pPr algn="l"/>
            <a:r>
              <a:rPr sz="1350" b="1" i="0">
                <a:solidFill>
                  <a:srgbClr val="EAF2FF"/>
                </a:solidFill>
                <a:latin typeface="Segoe UI"/>
              </a:rPr>
              <a:t>Intended physical demonstration: iQOO &gt; Vivo, send SOS, iQOO link ends,</a:t>
            </a:r>
          </a:p>
          <a:p>
            <a:pPr algn="l"/>
            <a:r>
              <a:rPr sz="1350" b="1" i="0">
                <a:solidFill>
                  <a:srgbClr val="EAF2FF"/>
                </a:solidFill>
                <a:latin typeface="Segoe UI"/>
              </a:rPr>
              <a:t>Vivo &gt; Motorola (manual), automatic forward, delivered after ACK.</a:t>
            </a:r>
          </a:p>
        </p:txBody>
      </p:sp>
      <p:sp>
        <p:nvSpPr>
          <p:cNvPr id="24" name="TextBox 23"/>
          <p:cNvSpPr txBox="1"/>
          <p:nvPr/>
        </p:nvSpPr>
        <p:spPr>
          <a:xfrm>
            <a:off x="548640" y="6199632"/>
            <a:ext cx="8229600" cy="274320"/>
          </a:xfrm>
          <a:prstGeom prst="rect">
            <a:avLst/>
          </a:prstGeom>
          <a:noFill/>
        </p:spPr>
        <p:txBody>
          <a:bodyPr wrap="square" lIns="36576" tIns="18288" rIns="36576" bIns="18288" anchor="t">
            <a:spAutoFit/>
          </a:bodyPr>
          <a:lstStyle/>
          <a:p>
            <a:pPr algn="l"/>
            <a:r>
              <a:rPr sz="1100" b="0" i="1">
                <a:solidFill>
                  <a:srgbClr val="96A8C4"/>
                </a:solidFill>
                <a:latin typeface="Segoe UI"/>
              </a:rPr>
              <a:t>Simulated tests validate application logic only, not the Bluetooth stack on the phones.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47472"/>
            <a:ext cx="8229600" cy="320040"/>
          </a:xfrm>
          <a:prstGeom prst="rect">
            <a:avLst/>
          </a:prstGeom>
          <a:noFill/>
        </p:spPr>
        <p:txBody>
          <a:bodyPr wrap="square" lIns="36576" tIns="18288" rIns="36576" bIns="18288" anchor="t">
            <a:spAutoFit/>
          </a:bodyPr>
          <a:lstStyle/>
          <a:p>
            <a:pPr algn="l"/>
            <a:r>
              <a:rPr sz="1300" b="1" i="0">
                <a:solidFill>
                  <a:srgbClr val="35E0FF"/>
                </a:solidFill>
                <a:latin typeface="Segoe UI"/>
              </a:rPr>
              <a:t>IMPACT AND FUTURE SCOPE</a:t>
            </a:r>
          </a:p>
        </p:txBody>
      </p:sp>
      <p:sp>
        <p:nvSpPr>
          <p:cNvPr id="4" name="TextBox 3"/>
          <p:cNvSpPr txBox="1"/>
          <p:nvPr/>
        </p:nvSpPr>
        <p:spPr>
          <a:xfrm>
            <a:off x="548640" y="621792"/>
            <a:ext cx="10972800" cy="731520"/>
          </a:xfrm>
          <a:prstGeom prst="rect">
            <a:avLst/>
          </a:prstGeom>
          <a:noFill/>
        </p:spPr>
        <p:txBody>
          <a:bodyPr wrap="square" lIns="36576" tIns="18288" rIns="36576" bIns="18288" anchor="t">
            <a:spAutoFit/>
          </a:bodyPr>
          <a:lstStyle/>
          <a:p>
            <a:pPr algn="l"/>
            <a:r>
              <a:rPr sz="3400" b="1" i="0">
                <a:solidFill>
                  <a:srgbClr val="EAF2FF"/>
                </a:solidFill>
                <a:latin typeface="Segoe UI"/>
              </a:rPr>
              <a:t>Where this approach could go next</a:t>
            </a:r>
          </a:p>
        </p:txBody>
      </p:sp>
      <p:sp>
        <p:nvSpPr>
          <p:cNvPr id="5" name="TextBox 4"/>
          <p:cNvSpPr txBox="1"/>
          <p:nvPr/>
        </p:nvSpPr>
        <p:spPr>
          <a:xfrm>
            <a:off x="548640" y="6455664"/>
            <a:ext cx="5486400" cy="274320"/>
          </a:xfrm>
          <a:prstGeom prst="rect">
            <a:avLst/>
          </a:prstGeom>
          <a:noFill/>
        </p:spPr>
        <p:txBody>
          <a:bodyPr wrap="square" lIns="36576" tIns="18288" rIns="36576" bIns="18288" anchor="t">
            <a:spAutoFit/>
          </a:bodyPr>
          <a:lstStyle/>
          <a:p>
            <a:pPr algn="l"/>
            <a:r>
              <a:rPr sz="1000" b="0" i="0">
                <a:solidFill>
                  <a:srgbClr val="6E82A5"/>
                </a:solidFill>
                <a:latin typeface="Segoe UI"/>
              </a:rPr>
              <a:t>SETHU  |  Hackathon presentation</a:t>
            </a:r>
          </a:p>
        </p:txBody>
      </p:sp>
      <p:sp>
        <p:nvSpPr>
          <p:cNvPr id="6" name="TextBox 5"/>
          <p:cNvSpPr txBox="1"/>
          <p:nvPr/>
        </p:nvSpPr>
        <p:spPr>
          <a:xfrm>
            <a:off x="11064240" y="6455664"/>
            <a:ext cx="640080" cy="274320"/>
          </a:xfrm>
          <a:prstGeom prst="rect">
            <a:avLst/>
          </a:prstGeom>
          <a:noFill/>
        </p:spPr>
        <p:txBody>
          <a:bodyPr wrap="square" lIns="36576" tIns="18288" rIns="36576" bIns="18288" anchor="t">
            <a:spAutoFit/>
          </a:bodyPr>
          <a:lstStyle/>
          <a:p>
            <a:pPr algn="r"/>
            <a:r>
              <a:rPr sz="1000" b="0" i="0">
                <a:solidFill>
                  <a:srgbClr val="6E82A5"/>
                </a:solidFill>
                <a:latin typeface="Segoe UI"/>
              </a:rPr>
              <a:t>11</a:t>
            </a:r>
          </a:p>
        </p:txBody>
      </p:sp>
      <p:sp>
        <p:nvSpPr>
          <p:cNvPr id="7" name="Rounded Rectangle 6"/>
          <p:cNvSpPr/>
          <p:nvPr/>
        </p:nvSpPr>
        <p:spPr>
          <a:xfrm>
            <a:off x="548640" y="1508760"/>
            <a:ext cx="2651760" cy="201168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645919"/>
            <a:ext cx="1188720" cy="310896"/>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B020"/>
                </a:solidFill>
                <a:latin typeface="Segoe UI"/>
              </a:rPr>
              <a:t>FUTURE</a:t>
            </a:r>
          </a:p>
        </p:txBody>
      </p:sp>
      <p:sp>
        <p:nvSpPr>
          <p:cNvPr id="9" name="TextBox 8"/>
          <p:cNvSpPr txBox="1"/>
          <p:nvPr/>
        </p:nvSpPr>
        <p:spPr>
          <a:xfrm>
            <a:off x="685800" y="2103120"/>
            <a:ext cx="2377440" cy="640080"/>
          </a:xfrm>
          <a:prstGeom prst="rect">
            <a:avLst/>
          </a:prstGeom>
          <a:noFill/>
        </p:spPr>
        <p:txBody>
          <a:bodyPr wrap="square" lIns="36576" tIns="18288" rIns="36576" bIns="18288" anchor="t">
            <a:spAutoFit/>
          </a:bodyPr>
          <a:lstStyle/>
          <a:p>
            <a:pPr algn="l"/>
            <a:r>
              <a:rPr sz="1650" b="1" i="0">
                <a:solidFill>
                  <a:srgbClr val="EAF2FF"/>
                </a:solidFill>
                <a:latin typeface="Segoe UI"/>
              </a:rPr>
              <a:t>Multi-hop relays</a:t>
            </a:r>
          </a:p>
        </p:txBody>
      </p:sp>
      <p:sp>
        <p:nvSpPr>
          <p:cNvPr id="10" name="TextBox 9"/>
          <p:cNvSpPr txBox="1"/>
          <p:nvPr/>
        </p:nvSpPr>
        <p:spPr>
          <a:xfrm>
            <a:off x="685800" y="2697480"/>
            <a:ext cx="2377440" cy="777240"/>
          </a:xfrm>
          <a:prstGeom prst="rect">
            <a:avLst/>
          </a:prstGeom>
          <a:noFill/>
        </p:spPr>
        <p:txBody>
          <a:bodyPr wrap="square" lIns="36576" tIns="18288" rIns="36576" bIns="18288" anchor="t">
            <a:spAutoFit/>
          </a:bodyPr>
          <a:lstStyle/>
          <a:p>
            <a:pPr algn="l"/>
            <a:r>
              <a:rPr sz="1250" b="0" i="0">
                <a:solidFill>
                  <a:srgbClr val="BECDE6"/>
                </a:solidFill>
                <a:latin typeface="Segoe UI"/>
              </a:rPr>
              <a:t>Reports across several relay phones</a:t>
            </a:r>
          </a:p>
        </p:txBody>
      </p:sp>
      <p:sp>
        <p:nvSpPr>
          <p:cNvPr id="11" name="Rounded Rectangle 10"/>
          <p:cNvSpPr/>
          <p:nvPr/>
        </p:nvSpPr>
        <p:spPr>
          <a:xfrm>
            <a:off x="3337560" y="1508760"/>
            <a:ext cx="2651760" cy="201168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74720" y="1645919"/>
            <a:ext cx="1188720" cy="310896"/>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B020"/>
                </a:solidFill>
                <a:latin typeface="Segoe UI"/>
              </a:rPr>
              <a:t>FUTURE</a:t>
            </a:r>
          </a:p>
        </p:txBody>
      </p:sp>
      <p:sp>
        <p:nvSpPr>
          <p:cNvPr id="13" name="TextBox 12"/>
          <p:cNvSpPr txBox="1"/>
          <p:nvPr/>
        </p:nvSpPr>
        <p:spPr>
          <a:xfrm>
            <a:off x="3474720" y="2103120"/>
            <a:ext cx="2377440" cy="640080"/>
          </a:xfrm>
          <a:prstGeom prst="rect">
            <a:avLst/>
          </a:prstGeom>
          <a:noFill/>
        </p:spPr>
        <p:txBody>
          <a:bodyPr wrap="square" lIns="36576" tIns="18288" rIns="36576" bIns="18288" anchor="t">
            <a:spAutoFit/>
          </a:bodyPr>
          <a:lstStyle/>
          <a:p>
            <a:pPr algn="l"/>
            <a:r>
              <a:rPr sz="1650" b="1" i="0">
                <a:solidFill>
                  <a:srgbClr val="EAF2FF"/>
                </a:solidFill>
                <a:latin typeface="Segoe UI"/>
              </a:rPr>
              <a:t>Background delivery</a:t>
            </a:r>
          </a:p>
        </p:txBody>
      </p:sp>
      <p:sp>
        <p:nvSpPr>
          <p:cNvPr id="14" name="TextBox 13"/>
          <p:cNvSpPr txBox="1"/>
          <p:nvPr/>
        </p:nvSpPr>
        <p:spPr>
          <a:xfrm>
            <a:off x="3474720" y="2697480"/>
            <a:ext cx="2377440" cy="777240"/>
          </a:xfrm>
          <a:prstGeom prst="rect">
            <a:avLst/>
          </a:prstGeom>
          <a:noFill/>
        </p:spPr>
        <p:txBody>
          <a:bodyPr wrap="square" lIns="36576" tIns="18288" rIns="36576" bIns="18288" anchor="t">
            <a:spAutoFit/>
          </a:bodyPr>
          <a:lstStyle/>
          <a:p>
            <a:pPr algn="l"/>
            <a:r>
              <a:rPr sz="1250" b="0" i="0">
                <a:solidFill>
                  <a:srgbClr val="BECDE6"/>
                </a:solidFill>
                <a:latin typeface="Segoe UI"/>
              </a:rPr>
              <a:t>More robust delivery when the app is not open</a:t>
            </a:r>
          </a:p>
        </p:txBody>
      </p:sp>
      <p:sp>
        <p:nvSpPr>
          <p:cNvPr id="15" name="Rounded Rectangle 14"/>
          <p:cNvSpPr/>
          <p:nvPr/>
        </p:nvSpPr>
        <p:spPr>
          <a:xfrm>
            <a:off x="6126479" y="1508760"/>
            <a:ext cx="2651760" cy="201168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63640" y="1645919"/>
            <a:ext cx="1188720" cy="310896"/>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B020"/>
                </a:solidFill>
                <a:latin typeface="Segoe UI"/>
              </a:rPr>
              <a:t>FUTURE</a:t>
            </a:r>
          </a:p>
        </p:txBody>
      </p:sp>
      <p:sp>
        <p:nvSpPr>
          <p:cNvPr id="17" name="TextBox 16"/>
          <p:cNvSpPr txBox="1"/>
          <p:nvPr/>
        </p:nvSpPr>
        <p:spPr>
          <a:xfrm>
            <a:off x="6263640" y="2103120"/>
            <a:ext cx="2377440" cy="640080"/>
          </a:xfrm>
          <a:prstGeom prst="rect">
            <a:avLst/>
          </a:prstGeom>
          <a:noFill/>
        </p:spPr>
        <p:txBody>
          <a:bodyPr wrap="square" lIns="36576" tIns="18288" rIns="36576" bIns="18288" anchor="t">
            <a:spAutoFit/>
          </a:bodyPr>
          <a:lstStyle/>
          <a:p>
            <a:pPr algn="l"/>
            <a:r>
              <a:rPr sz="1650" b="1" i="0">
                <a:solidFill>
                  <a:srgbClr val="EAF2FF"/>
                </a:solidFill>
                <a:latin typeface="Segoe UI"/>
              </a:rPr>
              <a:t>Authentication + encryption</a:t>
            </a:r>
          </a:p>
        </p:txBody>
      </p:sp>
      <p:sp>
        <p:nvSpPr>
          <p:cNvPr id="18" name="TextBox 17"/>
          <p:cNvSpPr txBox="1"/>
          <p:nvPr/>
        </p:nvSpPr>
        <p:spPr>
          <a:xfrm>
            <a:off x="6263640" y="2697480"/>
            <a:ext cx="2377440" cy="777240"/>
          </a:xfrm>
          <a:prstGeom prst="rect">
            <a:avLst/>
          </a:prstGeom>
          <a:noFill/>
        </p:spPr>
        <p:txBody>
          <a:bodyPr wrap="square" lIns="36576" tIns="18288" rIns="36576" bIns="18288" anchor="t">
            <a:spAutoFit/>
          </a:bodyPr>
          <a:lstStyle/>
          <a:p>
            <a:pPr algn="l"/>
            <a:r>
              <a:rPr sz="1250" b="0" i="0">
                <a:solidFill>
                  <a:srgbClr val="BECDE6"/>
                </a:solidFill>
                <a:latin typeface="Segoe UI"/>
              </a:rPr>
              <a:t>Message-level security</a:t>
            </a:r>
          </a:p>
        </p:txBody>
      </p:sp>
      <p:sp>
        <p:nvSpPr>
          <p:cNvPr id="19" name="Rounded Rectangle 18"/>
          <p:cNvSpPr/>
          <p:nvPr/>
        </p:nvSpPr>
        <p:spPr>
          <a:xfrm>
            <a:off x="8915399" y="1508760"/>
            <a:ext cx="2651760" cy="201168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52559" y="1645919"/>
            <a:ext cx="1188720" cy="310896"/>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B020"/>
                </a:solidFill>
                <a:latin typeface="Segoe UI"/>
              </a:rPr>
              <a:t>FUTURE</a:t>
            </a:r>
          </a:p>
        </p:txBody>
      </p:sp>
      <p:sp>
        <p:nvSpPr>
          <p:cNvPr id="21" name="TextBox 20"/>
          <p:cNvSpPr txBox="1"/>
          <p:nvPr/>
        </p:nvSpPr>
        <p:spPr>
          <a:xfrm>
            <a:off x="9052559" y="2103120"/>
            <a:ext cx="2377440" cy="640080"/>
          </a:xfrm>
          <a:prstGeom prst="rect">
            <a:avLst/>
          </a:prstGeom>
          <a:noFill/>
        </p:spPr>
        <p:txBody>
          <a:bodyPr wrap="square" lIns="36576" tIns="18288" rIns="36576" bIns="18288" anchor="t">
            <a:spAutoFit/>
          </a:bodyPr>
          <a:lstStyle/>
          <a:p>
            <a:pPr algn="l"/>
            <a:r>
              <a:rPr sz="1650" b="1" i="0">
                <a:solidFill>
                  <a:srgbClr val="EAF2FF"/>
                </a:solidFill>
                <a:latin typeface="Segoe UI"/>
              </a:rPr>
              <a:t>Better prioritization</a:t>
            </a:r>
          </a:p>
        </p:txBody>
      </p:sp>
      <p:sp>
        <p:nvSpPr>
          <p:cNvPr id="22" name="TextBox 21"/>
          <p:cNvSpPr txBox="1"/>
          <p:nvPr/>
        </p:nvSpPr>
        <p:spPr>
          <a:xfrm>
            <a:off x="9052559" y="2697480"/>
            <a:ext cx="2377440" cy="777240"/>
          </a:xfrm>
          <a:prstGeom prst="rect">
            <a:avLst/>
          </a:prstGeom>
          <a:noFill/>
        </p:spPr>
        <p:txBody>
          <a:bodyPr wrap="square" lIns="36576" tIns="18288" rIns="36576" bIns="18288" anchor="t">
            <a:spAutoFit/>
          </a:bodyPr>
          <a:lstStyle/>
          <a:p>
            <a:pPr algn="l"/>
            <a:r>
              <a:rPr sz="1250" b="0" i="0">
                <a:solidFill>
                  <a:srgbClr val="BECDE6"/>
                </a:solidFill>
                <a:latin typeface="Segoe UI"/>
              </a:rPr>
              <a:t>Richer, evaluated triage rules</a:t>
            </a:r>
          </a:p>
        </p:txBody>
      </p:sp>
      <p:sp>
        <p:nvSpPr>
          <p:cNvPr id="23" name="Rounded Rectangle 22"/>
          <p:cNvSpPr/>
          <p:nvPr/>
        </p:nvSpPr>
        <p:spPr>
          <a:xfrm>
            <a:off x="548640" y="3749039"/>
            <a:ext cx="2651760" cy="201168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5800" y="3886200"/>
            <a:ext cx="1188720" cy="310896"/>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B020"/>
                </a:solidFill>
                <a:latin typeface="Segoe UI"/>
              </a:rPr>
              <a:t>FUTURE</a:t>
            </a:r>
          </a:p>
        </p:txBody>
      </p:sp>
      <p:sp>
        <p:nvSpPr>
          <p:cNvPr id="25" name="TextBox 24"/>
          <p:cNvSpPr txBox="1"/>
          <p:nvPr/>
        </p:nvSpPr>
        <p:spPr>
          <a:xfrm>
            <a:off x="685800" y="4343400"/>
            <a:ext cx="2377440" cy="640080"/>
          </a:xfrm>
          <a:prstGeom prst="rect">
            <a:avLst/>
          </a:prstGeom>
          <a:noFill/>
        </p:spPr>
        <p:txBody>
          <a:bodyPr wrap="square" lIns="36576" tIns="18288" rIns="36576" bIns="18288" anchor="t">
            <a:spAutoFit/>
          </a:bodyPr>
          <a:lstStyle/>
          <a:p>
            <a:pPr algn="l"/>
            <a:r>
              <a:rPr sz="1650" b="1" i="0">
                <a:solidFill>
                  <a:srgbClr val="EAF2FF"/>
                </a:solidFill>
                <a:latin typeface="Segoe UI"/>
              </a:rPr>
              <a:t>More languages</a:t>
            </a:r>
          </a:p>
        </p:txBody>
      </p:sp>
      <p:sp>
        <p:nvSpPr>
          <p:cNvPr id="26" name="TextBox 25"/>
          <p:cNvSpPr txBox="1"/>
          <p:nvPr/>
        </p:nvSpPr>
        <p:spPr>
          <a:xfrm>
            <a:off x="685800" y="4937759"/>
            <a:ext cx="2377440" cy="777240"/>
          </a:xfrm>
          <a:prstGeom prst="rect">
            <a:avLst/>
          </a:prstGeom>
          <a:noFill/>
        </p:spPr>
        <p:txBody>
          <a:bodyPr wrap="square" lIns="36576" tIns="18288" rIns="36576" bIns="18288" anchor="t">
            <a:spAutoFit/>
          </a:bodyPr>
          <a:lstStyle/>
          <a:p>
            <a:pPr algn="l"/>
            <a:r>
              <a:rPr sz="1250" b="0" i="0">
                <a:solidFill>
                  <a:srgbClr val="BECDE6"/>
                </a:solidFill>
                <a:latin typeface="Segoe UI"/>
              </a:rPr>
              <a:t>Accessible, multilingual interfaces</a:t>
            </a:r>
          </a:p>
        </p:txBody>
      </p:sp>
      <p:sp>
        <p:nvSpPr>
          <p:cNvPr id="27" name="Rounded Rectangle 26"/>
          <p:cNvSpPr/>
          <p:nvPr/>
        </p:nvSpPr>
        <p:spPr>
          <a:xfrm>
            <a:off x="3337560" y="3749039"/>
            <a:ext cx="2651760" cy="201168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474720" y="3886200"/>
            <a:ext cx="1188720" cy="310896"/>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B020"/>
                </a:solidFill>
                <a:latin typeface="Segoe UI"/>
              </a:rPr>
              <a:t>FUTURE</a:t>
            </a:r>
          </a:p>
        </p:txBody>
      </p:sp>
      <p:sp>
        <p:nvSpPr>
          <p:cNvPr id="29" name="TextBox 28"/>
          <p:cNvSpPr txBox="1"/>
          <p:nvPr/>
        </p:nvSpPr>
        <p:spPr>
          <a:xfrm>
            <a:off x="3474720" y="4343400"/>
            <a:ext cx="2377440" cy="640080"/>
          </a:xfrm>
          <a:prstGeom prst="rect">
            <a:avLst/>
          </a:prstGeom>
          <a:noFill/>
        </p:spPr>
        <p:txBody>
          <a:bodyPr wrap="square" lIns="36576" tIns="18288" rIns="36576" bIns="18288" anchor="t">
            <a:spAutoFit/>
          </a:bodyPr>
          <a:lstStyle/>
          <a:p>
            <a:pPr algn="l"/>
            <a:r>
              <a:rPr sz="1650" b="1" i="0">
                <a:solidFill>
                  <a:srgbClr val="EAF2FF"/>
                </a:solidFill>
                <a:latin typeface="Segoe UI"/>
              </a:rPr>
              <a:t>Authorized integration</a:t>
            </a:r>
          </a:p>
        </p:txBody>
      </p:sp>
      <p:sp>
        <p:nvSpPr>
          <p:cNvPr id="30" name="TextBox 29"/>
          <p:cNvSpPr txBox="1"/>
          <p:nvPr/>
        </p:nvSpPr>
        <p:spPr>
          <a:xfrm>
            <a:off x="3474720" y="4937759"/>
            <a:ext cx="2377440" cy="777240"/>
          </a:xfrm>
          <a:prstGeom prst="rect">
            <a:avLst/>
          </a:prstGeom>
          <a:noFill/>
        </p:spPr>
        <p:txBody>
          <a:bodyPr wrap="square" lIns="36576" tIns="18288" rIns="36576" bIns="18288" anchor="t">
            <a:spAutoFit/>
          </a:bodyPr>
          <a:lstStyle/>
          <a:p>
            <a:pPr algn="l"/>
            <a:r>
              <a:rPr sz="1250" b="0" i="0">
                <a:solidFill>
                  <a:srgbClr val="BECDE6"/>
                </a:solidFill>
                <a:latin typeface="Segoe UI"/>
              </a:rPr>
              <a:t>Link to official emergency-response systems</a:t>
            </a:r>
          </a:p>
        </p:txBody>
      </p:sp>
      <p:sp>
        <p:nvSpPr>
          <p:cNvPr id="31" name="Rounded Rectangle 30"/>
          <p:cNvSpPr/>
          <p:nvPr/>
        </p:nvSpPr>
        <p:spPr>
          <a:xfrm>
            <a:off x="6126479" y="3749039"/>
            <a:ext cx="2651760" cy="2011680"/>
          </a:xfrm>
          <a:prstGeom prst="roundRect">
            <a:avLst>
              <a:gd name="adj" fmla="val 12000"/>
            </a:avLst>
          </a:prstGeom>
          <a:solidFill>
            <a:srgbClr val="0D1A38">
              <a:alpha val="85000"/>
            </a:srgbClr>
          </a:solidFill>
          <a:ln w="15875">
            <a:solidFill>
              <a:srgbClr val="264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263640" y="3886200"/>
            <a:ext cx="1188720" cy="310896"/>
          </a:xfrm>
          <a:prstGeom prst="roundRect">
            <a:avLst>
              <a:gd name="adj" fmla="val 50000"/>
            </a:avLst>
          </a:prstGeom>
          <a:solidFill>
            <a:srgbClr val="34260A">
              <a:alpha val="95000"/>
            </a:srgbClr>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B020"/>
                </a:solidFill>
                <a:latin typeface="Segoe UI"/>
              </a:rPr>
              <a:t>FUTURE</a:t>
            </a:r>
          </a:p>
        </p:txBody>
      </p:sp>
      <p:sp>
        <p:nvSpPr>
          <p:cNvPr id="33" name="TextBox 32"/>
          <p:cNvSpPr txBox="1"/>
          <p:nvPr/>
        </p:nvSpPr>
        <p:spPr>
          <a:xfrm>
            <a:off x="6263640" y="4343400"/>
            <a:ext cx="2377440" cy="640080"/>
          </a:xfrm>
          <a:prstGeom prst="rect">
            <a:avLst/>
          </a:prstGeom>
          <a:noFill/>
        </p:spPr>
        <p:txBody>
          <a:bodyPr wrap="square" lIns="36576" tIns="18288" rIns="36576" bIns="18288" anchor="t">
            <a:spAutoFit/>
          </a:bodyPr>
          <a:lstStyle/>
          <a:p>
            <a:pPr algn="l"/>
            <a:r>
              <a:rPr sz="1650" b="1" i="0">
                <a:solidFill>
                  <a:srgbClr val="EAF2FF"/>
                </a:solidFill>
                <a:latin typeface="Segoe UI"/>
              </a:rPr>
              <a:t>Field testing</a:t>
            </a:r>
          </a:p>
        </p:txBody>
      </p:sp>
      <p:sp>
        <p:nvSpPr>
          <p:cNvPr id="34" name="TextBox 33"/>
          <p:cNvSpPr txBox="1"/>
          <p:nvPr/>
        </p:nvSpPr>
        <p:spPr>
          <a:xfrm>
            <a:off x="6263640" y="4937759"/>
            <a:ext cx="2377440" cy="777240"/>
          </a:xfrm>
          <a:prstGeom prst="rect">
            <a:avLst/>
          </a:prstGeom>
          <a:noFill/>
        </p:spPr>
        <p:txBody>
          <a:bodyPr wrap="square" lIns="36576" tIns="18288" rIns="36576" bIns="18288" anchor="t">
            <a:spAutoFit/>
          </a:bodyPr>
          <a:lstStyle/>
          <a:p>
            <a:pPr algn="l"/>
            <a:r>
              <a:rPr sz="1250" b="0" i="0">
                <a:solidFill>
                  <a:srgbClr val="BECDE6"/>
                </a:solidFill>
                <a:latin typeface="Segoe UI"/>
              </a:rPr>
              <a:t>Larger tests in disaster-like conditions</a:t>
            </a:r>
          </a:p>
        </p:txBody>
      </p:sp>
      <p:sp>
        <p:nvSpPr>
          <p:cNvPr id="35" name="TextBox 34"/>
          <p:cNvSpPr txBox="1"/>
          <p:nvPr/>
        </p:nvSpPr>
        <p:spPr>
          <a:xfrm>
            <a:off x="8915400" y="3840480"/>
            <a:ext cx="2743200" cy="2011680"/>
          </a:xfrm>
          <a:prstGeom prst="rect">
            <a:avLst/>
          </a:prstGeom>
          <a:noFill/>
        </p:spPr>
        <p:txBody>
          <a:bodyPr wrap="square" lIns="36576" tIns="18288" rIns="36576" bIns="18288" anchor="t">
            <a:spAutoFit/>
          </a:bodyPr>
          <a:lstStyle/>
          <a:p>
            <a:pPr algn="l">
              <a:spcAft>
                <a:spcPts val="200"/>
              </a:spcAft>
            </a:pPr>
            <a:r>
              <a:rPr sz="1700" b="1" i="0">
                <a:solidFill>
                  <a:srgbClr val="35E0FF"/>
                </a:solidFill>
                <a:latin typeface="Segoe UI"/>
              </a:rPr>
              <a:t>Sethu supports</a:t>
            </a:r>
          </a:p>
          <a:p>
            <a:pPr algn="l">
              <a:spcAft>
                <a:spcPts val="200"/>
              </a:spcAft>
            </a:pPr>
            <a:r>
              <a:rPr sz="1700" b="1" i="0">
                <a:solidFill>
                  <a:srgbClr val="35E0FF"/>
                </a:solidFill>
                <a:latin typeface="Segoe UI"/>
              </a:rPr>
              <a:t>emergency services.</a:t>
            </a:r>
          </a:p>
          <a:p>
            <a:pPr algn="l">
              <a:spcAft>
                <a:spcPts val="200"/>
              </a:spcAft>
            </a:pPr>
            <a:r>
              <a:rPr sz="1700" b="1" i="0">
                <a:solidFill>
                  <a:srgbClr val="35E0FF"/>
                </a:solidFill>
                <a:latin typeface="Segoe UI"/>
              </a:rPr>
              <a:t>It does not replace them.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lood_dark.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1097280"/>
            <a:ext cx="11247120" cy="1463040"/>
          </a:xfrm>
          <a:prstGeom prst="rect">
            <a:avLst/>
          </a:prstGeom>
          <a:noFill/>
        </p:spPr>
        <p:txBody>
          <a:bodyPr wrap="square" lIns="36576" tIns="18288" rIns="36576" bIns="18288" anchor="t">
            <a:spAutoFit/>
          </a:bodyPr>
          <a:lstStyle/>
          <a:p>
            <a:pPr algn="ctr">
              <a:spcAft>
                <a:spcPts val="400"/>
              </a:spcAft>
            </a:pPr>
            <a:r>
              <a:rPr sz="2900" b="1" i="0">
                <a:solidFill>
                  <a:srgbClr val="EAF2FF"/>
                </a:solidFill>
                <a:latin typeface="Segoe UI"/>
              </a:rPr>
              <a:t>When connectivity breaks, emergency communication</a:t>
            </a:r>
          </a:p>
          <a:p>
            <a:pPr algn="ctr">
              <a:spcAft>
                <a:spcPts val="400"/>
              </a:spcAft>
            </a:pPr>
            <a:r>
              <a:rPr sz="2900" b="1" i="0">
                <a:solidFill>
                  <a:srgbClr val="EAF2FF"/>
                </a:solidFill>
                <a:latin typeface="Segoe UI"/>
              </a:rPr>
              <a:t>should not stop at the first disconnected phone.</a:t>
            </a:r>
          </a:p>
        </p:txBody>
      </p:sp>
      <p:pic>
        <p:nvPicPr>
          <p:cNvPr id="4" name="Picture 3" descr="motif.png"/>
          <p:cNvPicPr>
            <a:picLocks noChangeAspect="1"/>
          </p:cNvPicPr>
          <p:nvPr/>
        </p:nvPicPr>
        <p:blipFill>
          <a:blip r:embed="rId4"/>
          <a:stretch>
            <a:fillRect/>
          </a:stretch>
        </p:blipFill>
        <p:spPr>
          <a:xfrm>
            <a:off x="3108960" y="2926080"/>
            <a:ext cx="5943600" cy="2179320"/>
          </a:xfrm>
          <a:prstGeom prst="rect">
            <a:avLst/>
          </a:prstGeom>
        </p:spPr>
      </p:pic>
      <p:sp>
        <p:nvSpPr>
          <p:cNvPr id="5" name="TextBox 4"/>
          <p:cNvSpPr txBox="1"/>
          <p:nvPr/>
        </p:nvSpPr>
        <p:spPr>
          <a:xfrm>
            <a:off x="822960" y="5212080"/>
            <a:ext cx="10515600" cy="822960"/>
          </a:xfrm>
          <a:prstGeom prst="rect">
            <a:avLst/>
          </a:prstGeom>
          <a:noFill/>
        </p:spPr>
        <p:txBody>
          <a:bodyPr wrap="square" lIns="36576" tIns="18288" rIns="36576" bIns="18288" anchor="t">
            <a:spAutoFit/>
          </a:bodyPr>
          <a:lstStyle/>
          <a:p>
            <a:pPr algn="ctr"/>
            <a:r>
              <a:rPr sz="5400" b="1" i="0">
                <a:solidFill>
                  <a:srgbClr val="EAF2FF"/>
                </a:solidFill>
                <a:latin typeface="Segoe UI"/>
              </a:rPr>
              <a:t>SETHU</a:t>
            </a:r>
          </a:p>
        </p:txBody>
      </p:sp>
      <p:sp>
        <p:nvSpPr>
          <p:cNvPr id="6" name="TextBox 5"/>
          <p:cNvSpPr txBox="1"/>
          <p:nvPr/>
        </p:nvSpPr>
        <p:spPr>
          <a:xfrm>
            <a:off x="822960" y="5943600"/>
            <a:ext cx="10515600" cy="457200"/>
          </a:xfrm>
          <a:prstGeom prst="rect">
            <a:avLst/>
          </a:prstGeom>
          <a:noFill/>
        </p:spPr>
        <p:txBody>
          <a:bodyPr wrap="square" lIns="36576" tIns="18288" rIns="36576" bIns="18288" anchor="t">
            <a:spAutoFit/>
          </a:bodyPr>
          <a:lstStyle/>
          <a:p>
            <a:pPr algn="ctr"/>
            <a:r>
              <a:rPr sz="2200" b="0" i="1">
                <a:solidFill>
                  <a:srgbClr val="35E0FF"/>
                </a:solidFill>
                <a:latin typeface="Segoe UI"/>
              </a:rPr>
              <a:t>Every message deserves a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1463</Words>
  <Application>Microsoft Office PowerPoint</Application>
  <PresentationFormat>Widescreen</PresentationFormat>
  <Paragraphs>234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عبد المنان</cp:lastModifiedBy>
  <cp:revision>3</cp:revision>
  <dcterms:created xsi:type="dcterms:W3CDTF">2013-01-27T09:14:16Z</dcterms:created>
  <dcterms:modified xsi:type="dcterms:W3CDTF">2026-10-10T21:47:47Z</dcterms:modified>
  <cp:category/>
</cp:coreProperties>
</file>